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81" r:id="rId7"/>
    <p:sldId id="282" r:id="rId8"/>
    <p:sldId id="280" r:id="rId9"/>
    <p:sldId id="296" r:id="rId10"/>
    <p:sldId id="268" r:id="rId11"/>
    <p:sldId id="269" r:id="rId12"/>
    <p:sldId id="270" r:id="rId13"/>
    <p:sldId id="287" r:id="rId14"/>
    <p:sldId id="288" r:id="rId15"/>
    <p:sldId id="271" r:id="rId16"/>
    <p:sldId id="272" r:id="rId17"/>
    <p:sldId id="289" r:id="rId18"/>
    <p:sldId id="273" r:id="rId19"/>
    <p:sldId id="292" r:id="rId20"/>
    <p:sldId id="293" r:id="rId21"/>
    <p:sldId id="294" r:id="rId22"/>
    <p:sldId id="295" r:id="rId23"/>
    <p:sldId id="290" r:id="rId24"/>
    <p:sldId id="275" r:id="rId25"/>
    <p:sldId id="276" r:id="rId26"/>
    <p:sldId id="291" r:id="rId27"/>
    <p:sldId id="278" r:id="rId28"/>
    <p:sldId id="277" r:id="rId29"/>
    <p:sldId id="286"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hWi/LC4CEqrUYZTscGQcjLpaYT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18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F0110F7-3472-4288-BBBE-1755270B5A6E}">
  <a:tblStyle styleId="{6F0110F7-3472-4288-BBBE-1755270B5A6E}"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E8F1F5"/>
          </a:solidFill>
        </a:fill>
      </a:tcStyle>
    </a:band1H>
    <a:band2H>
      <a:tcTxStyle/>
      <a:tcStyle>
        <a:tcBdr/>
      </a:tcStyle>
    </a:band2H>
    <a:band1V>
      <a:tcTxStyle/>
      <a:tcStyle>
        <a:tcBdr/>
        <a:fill>
          <a:solidFill>
            <a:srgbClr val="E8F1F5"/>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chemeClr val="l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accent5"/>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90" d="100"/>
          <a:sy n="90" d="100"/>
        </p:scale>
        <p:origin x="552" y="43"/>
      </p:cViewPr>
      <p:guideLst>
        <p:guide orient="horz" pos="2160"/>
        <p:guide pos="3840"/>
      </p:guideLst>
    </p:cSldViewPr>
  </p:slideViewPr>
  <p:notesTextViewPr>
    <p:cViewPr>
      <p:scale>
        <a:sx n="1" d="1"/>
        <a:sy n="1" d="1"/>
      </p:scale>
      <p:origin x="0" y="0"/>
    </p:cViewPr>
  </p:notesTextViewPr>
  <p:sorterViewPr>
    <p:cViewPr>
      <p:scale>
        <a:sx n="100" d="100"/>
        <a:sy n="100" d="100"/>
      </p:scale>
      <p:origin x="0" y="-142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2" y="1"/>
            <a:ext cx="3076575" cy="512763"/>
          </a:xfrm>
          <a:prstGeom prst="rect">
            <a:avLst/>
          </a:prstGeom>
          <a:noFill/>
          <a:ln>
            <a:noFill/>
          </a:ln>
        </p:spPr>
        <p:txBody>
          <a:bodyPr spcFirstLastPara="1" wrap="square" lIns="91475" tIns="45725" rIns="91475" bIns="45725" anchor="t"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1139" y="1"/>
            <a:ext cx="3076575" cy="512763"/>
          </a:xfrm>
          <a:prstGeom prst="rect">
            <a:avLst/>
          </a:prstGeom>
          <a:noFill/>
          <a:ln>
            <a:noFill/>
          </a:ln>
        </p:spPr>
        <p:txBody>
          <a:bodyPr spcFirstLastPara="1" wrap="square" lIns="91475" tIns="45725" rIns="91475" bIns="45725" anchor="t" anchorCtr="0">
            <a:noAutofit/>
          </a:bodyPr>
          <a:lstStyle>
            <a:lvl1pPr marR="0" lvl="0" algn="r"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90600" y="766763"/>
            <a:ext cx="5118100" cy="3838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709614" y="4862514"/>
            <a:ext cx="5680075" cy="4605337"/>
          </a:xfrm>
          <a:prstGeom prst="rect">
            <a:avLst/>
          </a:prstGeom>
          <a:noFill/>
          <a:ln>
            <a:noFill/>
          </a:ln>
        </p:spPr>
        <p:txBody>
          <a:bodyPr spcFirstLastPara="1" wrap="square" lIns="91475" tIns="45725" rIns="91475" bIns="4572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2" y="9720264"/>
            <a:ext cx="3076575" cy="512762"/>
          </a:xfrm>
          <a:prstGeom prst="rect">
            <a:avLst/>
          </a:prstGeom>
          <a:noFill/>
          <a:ln>
            <a:noFill/>
          </a:ln>
        </p:spPr>
        <p:txBody>
          <a:bodyPr spcFirstLastPara="1" wrap="square" lIns="91475" tIns="45725" rIns="91475" bIns="45725" anchor="b"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1139" y="9720264"/>
            <a:ext cx="3076575" cy="512762"/>
          </a:xfrm>
          <a:prstGeom prst="rect">
            <a:avLst/>
          </a:prstGeom>
          <a:noFill/>
          <a:ln>
            <a:noFill/>
          </a:ln>
        </p:spPr>
        <p:txBody>
          <a:bodyPr spcFirstLastPara="1" wrap="square" lIns="91475" tIns="45725" rIns="91475" bIns="45725" anchor="b" anchorCtr="0">
            <a:noAutofit/>
          </a:bodyPr>
          <a:lstStyle/>
          <a:p>
            <a:pPr marL="0" marR="0" lvl="0" indent="0" algn="r" rtl="0">
              <a:spcBef>
                <a:spcPts val="0"/>
              </a:spcBef>
              <a:spcAft>
                <a:spcPts val="0"/>
              </a:spcAft>
              <a:buNone/>
            </a:pPr>
            <a:fld id="{00000000-1234-1234-1234-123412341234}" type="slidenum">
              <a:rPr lang="en-IN" sz="1100" b="0" i="0" u="none" strike="noStrike" cap="none">
                <a:solidFill>
                  <a:schemeClr val="dk1"/>
                </a:solidFill>
                <a:latin typeface="Calibri"/>
                <a:ea typeface="Calibri"/>
                <a:cs typeface="Calibri"/>
                <a:sym typeface="Calibri"/>
              </a:rPr>
              <a:t>‹#›</a:t>
            </a:fld>
            <a:endParaRPr sz="11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93" name="Google Shape;93;p2: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99" name="Google Shape;99;p3: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107" name="Google Shape;107;p4: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4" name="Google Shape;114;p5:notes"/>
          <p:cNvSpPr txBox="1">
            <a:spLocks noGrp="1"/>
          </p:cNvSpPr>
          <p:nvPr>
            <p:ph type="body" idx="1"/>
          </p:nvPr>
        </p:nvSpPr>
        <p:spPr>
          <a:xfrm>
            <a:off x="709614" y="4862514"/>
            <a:ext cx="5680075" cy="4605337"/>
          </a:xfrm>
          <a:prstGeom prst="rect">
            <a:avLst/>
          </a:prstGeom>
          <a:noFill/>
          <a:ln>
            <a:noFill/>
          </a:ln>
        </p:spPr>
        <p:txBody>
          <a:bodyPr spcFirstLastPara="1" wrap="square" lIns="91475" tIns="45725" rIns="91475" bIns="45725" anchor="t" anchorCtr="0">
            <a:noAutofit/>
          </a:bodyPr>
          <a:lstStyle/>
          <a:p>
            <a:pPr marL="0" lvl="0" indent="0" algn="l" rtl="0">
              <a:spcBef>
                <a:spcPts val="0"/>
              </a:spcBef>
              <a:spcAft>
                <a:spcPts val="0"/>
              </a:spcAft>
              <a:buNone/>
            </a:pPr>
            <a:endParaRPr/>
          </a:p>
        </p:txBody>
      </p:sp>
      <p:sp>
        <p:nvSpPr>
          <p:cNvPr id="115" name="Google Shape;115;p5:notes"/>
          <p:cNvSpPr txBox="1">
            <a:spLocks noGrp="1"/>
          </p:cNvSpPr>
          <p:nvPr>
            <p:ph type="sldNum" idx="12"/>
          </p:nvPr>
        </p:nvSpPr>
        <p:spPr>
          <a:xfrm>
            <a:off x="4021139" y="9720264"/>
            <a:ext cx="3076575" cy="512762"/>
          </a:xfrm>
          <a:prstGeom prst="rect">
            <a:avLst/>
          </a:prstGeom>
          <a:noFill/>
          <a:ln>
            <a:noFill/>
          </a:ln>
        </p:spPr>
        <p:txBody>
          <a:bodyPr spcFirstLastPara="1" wrap="square" lIns="91475" tIns="45725" rIns="91475" bIns="45725" anchor="b" anchorCtr="0">
            <a:noAutofit/>
          </a:bodyPr>
          <a:lstStyle/>
          <a:p>
            <a:pPr marL="0" lvl="0" indent="0" algn="r" rtl="0">
              <a:spcBef>
                <a:spcPts val="0"/>
              </a:spcBef>
              <a:spcAft>
                <a:spcPts val="0"/>
              </a:spcAft>
              <a:buNone/>
            </a:pPr>
            <a:fld id="{00000000-1234-1234-1234-123412341234}" type="slidenum">
              <a:rPr lang="en-I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3: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159" name="Google Shape;159;p13: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5: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165" name="Google Shape;165;p15: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6: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171" name="Google Shape;171;p16: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7: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176" name="Google Shape;176;p17: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8: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183" name="Google Shape;183;p18: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9: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dirty="0"/>
          </a:p>
        </p:txBody>
      </p:sp>
      <p:sp>
        <p:nvSpPr>
          <p:cNvPr id="189" name="Google Shape;189;p19: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100" b="0" i="0" u="none" strike="noStrike" cap="none" smtClean="0">
                <a:solidFill>
                  <a:schemeClr val="dk1"/>
                </a:solidFill>
                <a:latin typeface="Calibri"/>
                <a:ea typeface="Calibri"/>
                <a:cs typeface="Calibri"/>
                <a:sym typeface="Calibri"/>
              </a:rPr>
              <a:t>22</a:t>
            </a:fld>
            <a:endParaRPr lang="en-IN" sz="11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332708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1: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201" name="Google Shape;201;p21: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22: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207" name="Google Shape;207;p22: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4: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219" name="Google Shape;219;p24: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3: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213" name="Google Shape;213;p23: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6"/>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6"/>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7"/>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2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9"/>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9"/>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2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3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0"/>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30"/>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3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1"/>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31"/>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31"/>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31"/>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3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3"/>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3"/>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33"/>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3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4"/>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4"/>
          <p:cNvSpPr>
            <a:spLocks noGrp="1"/>
          </p:cNvSpPr>
          <p:nvPr>
            <p:ph type="pic" idx="2"/>
          </p:nvPr>
        </p:nvSpPr>
        <p:spPr>
          <a:xfrm>
            <a:off x="2389717" y="612775"/>
            <a:ext cx="7315200" cy="4114800"/>
          </a:xfrm>
          <a:prstGeom prst="rect">
            <a:avLst/>
          </a:prstGeom>
          <a:noFill/>
          <a:ln>
            <a:noFill/>
          </a:ln>
        </p:spPr>
      </p:sp>
      <p:sp>
        <p:nvSpPr>
          <p:cNvPr id="68" name="Google Shape;68;p34"/>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3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5"/>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3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6"/>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6"/>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3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fastapi.tiangolo.co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owasp.org/www-project-mobile-app-security/" TargetMode="External"/><Relationship Id="rId3" Type="http://schemas.openxmlformats.org/officeDocument/2006/relationships/hyperlink" Target="https://reactnative.dev/" TargetMode="External"/><Relationship Id="rId7" Type="http://schemas.openxmlformats.org/officeDocument/2006/relationships/hyperlink" Target="https://www.openstreetmap.org/"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hyperlink" Target="https://www.postgresql.org/docs/" TargetMode="External"/><Relationship Id="rId5" Type="http://schemas.openxmlformats.org/officeDocument/2006/relationships/hyperlink" Target="https://www.sqlalchemy.org/" TargetMode="External"/><Relationship Id="rId10" Type="http://schemas.openxmlformats.org/officeDocument/2006/relationships/hyperlink" Target="https://jwt.io/introduction" TargetMode="External"/><Relationship Id="rId4" Type="http://schemas.openxmlformats.org/officeDocument/2006/relationships/hyperlink" Target="https://docs.expo.dev/" TargetMode="External"/><Relationship Id="rId9" Type="http://schemas.openxmlformats.org/officeDocument/2006/relationships/hyperlink" Target="https://en.wikipedia.org/wiki/Haversine_formula"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176337" y="219076"/>
            <a:ext cx="10401770" cy="235158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15000"/>
              </a:lnSpc>
              <a:spcBef>
                <a:spcPts val="0"/>
              </a:spcBef>
              <a:spcAft>
                <a:spcPts val="0"/>
              </a:spcAft>
              <a:buClr>
                <a:srgbClr val="000000"/>
              </a:buClr>
              <a:buSzPct val="100000"/>
              <a:buFont typeface="Times New Roman"/>
              <a:buNone/>
            </a:pPr>
            <a:r>
              <a:rPr lang="en-IN" sz="2000" b="1" i="0" u="none" strike="noStrike" cap="none" dirty="0">
                <a:solidFill>
                  <a:srgbClr val="000000"/>
                </a:solidFill>
                <a:latin typeface="Times New Roman"/>
                <a:ea typeface="Times New Roman"/>
                <a:cs typeface="Times New Roman"/>
                <a:sym typeface="Times New Roman"/>
              </a:rPr>
              <a:t>STANLEY COLLEGE OF ENGINEERING AND </a:t>
            </a:r>
            <a:r>
              <a:rPr lang="en-IN" sz="2000" b="1" dirty="0">
                <a:solidFill>
                  <a:srgbClr val="000000"/>
                </a:solidFill>
                <a:latin typeface="Times New Roman"/>
                <a:ea typeface="Times New Roman"/>
                <a:cs typeface="Times New Roman"/>
                <a:sym typeface="Times New Roman"/>
              </a:rPr>
              <a:t>TECHNOLOGY</a:t>
            </a:r>
            <a:r>
              <a:rPr lang="en-IN" sz="2000" b="1" i="0" u="none" strike="noStrike" cap="none" dirty="0">
                <a:solidFill>
                  <a:srgbClr val="000000"/>
                </a:solidFill>
                <a:latin typeface="Times New Roman"/>
                <a:ea typeface="Times New Roman"/>
                <a:cs typeface="Times New Roman"/>
                <a:sym typeface="Times New Roman"/>
              </a:rPr>
              <a:t> FOR WOMEN (AUTONOMOUS)  Abids. Hyderabad – 500 001</a:t>
            </a:r>
            <a:br>
              <a:rPr lang="en-IN" sz="2000" b="1" i="0" u="none" strike="noStrike" cap="none" dirty="0">
                <a:solidFill>
                  <a:srgbClr val="000000"/>
                </a:solidFill>
                <a:latin typeface="Times New Roman"/>
                <a:ea typeface="Times New Roman"/>
                <a:cs typeface="Times New Roman"/>
                <a:sym typeface="Times New Roman"/>
              </a:rPr>
            </a:br>
            <a:r>
              <a:rPr lang="en-IN" sz="1300" b="1" i="1" dirty="0">
                <a:latin typeface="Times New Roman"/>
                <a:ea typeface="Times New Roman"/>
                <a:cs typeface="Times New Roman"/>
                <a:sym typeface="Times New Roman"/>
              </a:rPr>
              <a:t>(Affiliated to Osmania University &amp; Approved by AICTE)</a:t>
            </a:r>
            <a:br>
              <a:rPr lang="en-IN" sz="1300" dirty="0">
                <a:latin typeface="Times New Roman"/>
                <a:ea typeface="Times New Roman"/>
                <a:cs typeface="Times New Roman"/>
                <a:sym typeface="Times New Roman"/>
              </a:rPr>
            </a:br>
            <a:r>
              <a:rPr lang="en-IN" sz="1300" b="1" dirty="0">
                <a:solidFill>
                  <a:srgbClr val="000000"/>
                </a:solidFill>
                <a:latin typeface="Times New Roman"/>
                <a:ea typeface="Times New Roman"/>
                <a:cs typeface="Times New Roman"/>
                <a:sym typeface="Times New Roman"/>
              </a:rPr>
              <a:t>(All eligible UG Courses are accredited by NBA &amp; Accredited by NAAC with ‘A’ Grade)</a:t>
            </a:r>
            <a:br>
              <a:rPr lang="en-IN" sz="1300" dirty="0">
                <a:latin typeface="Times New Roman"/>
                <a:ea typeface="Times New Roman"/>
                <a:cs typeface="Times New Roman"/>
                <a:sym typeface="Times New Roman"/>
              </a:rPr>
            </a:br>
            <a:br>
              <a:rPr lang="en-IN" sz="1300" dirty="0">
                <a:latin typeface="Times New Roman"/>
                <a:ea typeface="Times New Roman"/>
                <a:cs typeface="Times New Roman"/>
                <a:sym typeface="Times New Roman"/>
              </a:rPr>
            </a:br>
            <a:r>
              <a:rPr lang="en-IN" sz="2000" b="1" i="0" u="none" strike="noStrike" cap="none" dirty="0">
                <a:solidFill>
                  <a:srgbClr val="000000"/>
                </a:solidFill>
                <a:latin typeface="Times New Roman"/>
                <a:ea typeface="Times New Roman"/>
                <a:cs typeface="Times New Roman"/>
                <a:sym typeface="Times New Roman"/>
              </a:rPr>
              <a:t>Department </a:t>
            </a:r>
            <a:r>
              <a:rPr lang="en-IN" sz="2000" b="1" dirty="0">
                <a:solidFill>
                  <a:srgbClr val="000000"/>
                </a:solidFill>
                <a:latin typeface="Times New Roman"/>
                <a:ea typeface="Times New Roman"/>
                <a:cs typeface="Times New Roman"/>
                <a:sym typeface="Times New Roman"/>
              </a:rPr>
              <a:t>Of Computer Science and Engineering</a:t>
            </a:r>
            <a:br>
              <a:rPr lang="en-IN" sz="2000" b="1" i="0" u="none" strike="noStrike" cap="none" dirty="0">
                <a:solidFill>
                  <a:srgbClr val="000000"/>
                </a:solidFill>
                <a:latin typeface="Times New Roman"/>
                <a:ea typeface="Times New Roman"/>
                <a:cs typeface="Times New Roman"/>
                <a:sym typeface="Times New Roman"/>
              </a:rPr>
            </a:br>
            <a:r>
              <a:rPr lang="en-IN" sz="2000" b="1" i="0" u="none" strike="noStrike" cap="none" dirty="0">
                <a:solidFill>
                  <a:srgbClr val="000000"/>
                </a:solidFill>
                <a:latin typeface="Times New Roman"/>
                <a:ea typeface="Times New Roman"/>
                <a:cs typeface="Times New Roman"/>
                <a:sym typeface="Times New Roman"/>
              </a:rPr>
              <a:t>Academic Year: 202</a:t>
            </a:r>
            <a:r>
              <a:rPr lang="en-IN" sz="2000" b="1" dirty="0">
                <a:solidFill>
                  <a:srgbClr val="000000"/>
                </a:solidFill>
                <a:latin typeface="Times New Roman"/>
                <a:ea typeface="Times New Roman"/>
                <a:cs typeface="Times New Roman"/>
                <a:sym typeface="Times New Roman"/>
              </a:rPr>
              <a:t>5</a:t>
            </a:r>
            <a:r>
              <a:rPr lang="en-IN" sz="2000" b="1" i="0" u="none" strike="noStrike" cap="none" dirty="0">
                <a:solidFill>
                  <a:srgbClr val="000000"/>
                </a:solidFill>
                <a:latin typeface="Times New Roman"/>
                <a:ea typeface="Times New Roman"/>
                <a:cs typeface="Times New Roman"/>
                <a:sym typeface="Times New Roman"/>
              </a:rPr>
              <a:t>-202</a:t>
            </a:r>
            <a:r>
              <a:rPr lang="en-IN" sz="2000" b="1" dirty="0">
                <a:solidFill>
                  <a:srgbClr val="000000"/>
                </a:solidFill>
                <a:latin typeface="Times New Roman"/>
                <a:ea typeface="Times New Roman"/>
                <a:cs typeface="Times New Roman"/>
                <a:sym typeface="Times New Roman"/>
              </a:rPr>
              <a:t>6</a:t>
            </a:r>
            <a:br>
              <a:rPr lang="en-IN" sz="2000" b="1" i="0" u="none" strike="noStrike" cap="none" dirty="0">
                <a:solidFill>
                  <a:srgbClr val="000000"/>
                </a:solidFill>
                <a:latin typeface="Times New Roman"/>
                <a:ea typeface="Times New Roman"/>
                <a:cs typeface="Times New Roman"/>
                <a:sym typeface="Times New Roman"/>
              </a:rPr>
            </a:br>
            <a:r>
              <a:rPr lang="en-IN" sz="2000" b="1" dirty="0">
                <a:solidFill>
                  <a:srgbClr val="000000"/>
                </a:solidFill>
                <a:latin typeface="Times New Roman"/>
                <a:ea typeface="Times New Roman"/>
                <a:cs typeface="Times New Roman"/>
                <a:sym typeface="Times New Roman"/>
              </a:rPr>
              <a:t>Mini Project </a:t>
            </a:r>
            <a:endParaRPr sz="2000" dirty="0"/>
          </a:p>
        </p:txBody>
      </p:sp>
      <p:sp>
        <p:nvSpPr>
          <p:cNvPr id="89" name="Google Shape;89;p1"/>
          <p:cNvSpPr txBox="1">
            <a:spLocks noGrp="1"/>
          </p:cNvSpPr>
          <p:nvPr>
            <p:ph type="subTitle" idx="1"/>
          </p:nvPr>
        </p:nvSpPr>
        <p:spPr>
          <a:xfrm>
            <a:off x="1580600" y="3497575"/>
            <a:ext cx="9997500" cy="2891700"/>
          </a:xfrm>
          <a:prstGeom prst="rect">
            <a:avLst/>
          </a:prstGeom>
          <a:noFill/>
          <a:ln>
            <a:noFill/>
          </a:ln>
        </p:spPr>
        <p:txBody>
          <a:bodyPr spcFirstLastPara="1" wrap="square" lIns="91425" tIns="45700" rIns="91425" bIns="45700" anchor="t" anchorCtr="0">
            <a:normAutofit fontScale="25000" lnSpcReduction="20000"/>
          </a:bodyPr>
          <a:lstStyle/>
          <a:p>
            <a:pPr marL="0" lvl="0" indent="0" algn="l" rtl="0">
              <a:spcBef>
                <a:spcPts val="456"/>
              </a:spcBef>
              <a:spcAft>
                <a:spcPts val="0"/>
              </a:spcAft>
              <a:buClr>
                <a:srgbClr val="888888"/>
              </a:buClr>
              <a:buSzPct val="100000"/>
              <a:buNone/>
            </a:pPr>
            <a:endParaRPr dirty="0"/>
          </a:p>
          <a:p>
            <a:pPr marL="0" lvl="0" indent="0" algn="ctr" rtl="0">
              <a:spcBef>
                <a:spcPts val="256"/>
              </a:spcBef>
              <a:spcAft>
                <a:spcPts val="0"/>
              </a:spcAft>
              <a:buClr>
                <a:srgbClr val="888888"/>
              </a:buClr>
              <a:buSzPct val="100000"/>
              <a:buNone/>
            </a:pPr>
            <a:endParaRPr sz="1800" dirty="0">
              <a:solidFill>
                <a:srgbClr val="0D0D0D"/>
              </a:solidFill>
              <a:latin typeface="Times New Roman"/>
              <a:ea typeface="Times New Roman"/>
              <a:cs typeface="Times New Roman"/>
              <a:sym typeface="Times New Roman"/>
            </a:endParaRPr>
          </a:p>
          <a:p>
            <a:pPr marL="0" lvl="0" indent="0" algn="ctr" rtl="0">
              <a:spcBef>
                <a:spcPts val="256"/>
              </a:spcBef>
              <a:spcAft>
                <a:spcPts val="0"/>
              </a:spcAft>
              <a:buClr>
                <a:srgbClr val="0D0D0D"/>
              </a:buClr>
              <a:buSzPct val="32142"/>
              <a:buNone/>
            </a:pPr>
            <a:endParaRPr sz="5600" dirty="0">
              <a:latin typeface="Times New Roman"/>
              <a:ea typeface="Times New Roman"/>
              <a:cs typeface="Times New Roman"/>
              <a:sym typeface="Times New Roman"/>
            </a:endParaRPr>
          </a:p>
          <a:p>
            <a:pPr marL="0" lvl="0" indent="0" algn="ctr" rtl="0">
              <a:spcBef>
                <a:spcPts val="256"/>
              </a:spcBef>
              <a:spcAft>
                <a:spcPts val="0"/>
              </a:spcAft>
              <a:buClr>
                <a:srgbClr val="0D0D0D"/>
              </a:buClr>
              <a:buSzPct val="32142"/>
              <a:buNone/>
            </a:pPr>
            <a:r>
              <a:rPr lang="en-IN" sz="5600" b="1" dirty="0">
                <a:solidFill>
                  <a:srgbClr val="0D0D0D"/>
                </a:solidFill>
                <a:latin typeface="Times New Roman"/>
                <a:ea typeface="Times New Roman"/>
                <a:cs typeface="Times New Roman"/>
                <a:sym typeface="Times New Roman"/>
              </a:rPr>
              <a:t> </a:t>
            </a:r>
            <a:r>
              <a:rPr lang="en-US" sz="5600" b="1" dirty="0">
                <a:solidFill>
                  <a:srgbClr val="0D0D0D"/>
                </a:solidFill>
                <a:latin typeface="Times New Roman"/>
                <a:ea typeface="Times New Roman"/>
                <a:cs typeface="Times New Roman"/>
                <a:sym typeface="Times New Roman"/>
              </a:rPr>
              <a:t>SMART ADAPTIVE ATTENDANCE INTELLIGENCE SYSTEM (SAAIS)</a:t>
            </a:r>
            <a:endParaRPr lang="en-US" sz="5600" dirty="0">
              <a:solidFill>
                <a:srgbClr val="0D0D0D"/>
              </a:solidFill>
              <a:latin typeface="Times New Roman"/>
              <a:ea typeface="Times New Roman"/>
              <a:cs typeface="Times New Roman"/>
              <a:sym typeface="Times New Roman"/>
            </a:endParaRPr>
          </a:p>
          <a:p>
            <a:pPr marL="0" lvl="0" indent="0" algn="ctr" rtl="0">
              <a:spcBef>
                <a:spcPts val="256"/>
              </a:spcBef>
              <a:spcAft>
                <a:spcPts val="0"/>
              </a:spcAft>
              <a:buClr>
                <a:srgbClr val="0D0D0D"/>
              </a:buClr>
              <a:buSzPct val="32142"/>
              <a:buNone/>
            </a:pPr>
            <a:endParaRPr sz="5600" dirty="0">
              <a:solidFill>
                <a:srgbClr val="0D0D0D"/>
              </a:solidFill>
              <a:latin typeface="Times New Roman"/>
              <a:ea typeface="Times New Roman"/>
              <a:cs typeface="Times New Roman"/>
              <a:sym typeface="Times New Roman"/>
            </a:endParaRPr>
          </a:p>
          <a:p>
            <a:pPr marL="0" lvl="0" indent="0" algn="l" rtl="0">
              <a:spcBef>
                <a:spcPts val="256"/>
              </a:spcBef>
              <a:spcAft>
                <a:spcPts val="0"/>
              </a:spcAft>
              <a:buClr>
                <a:schemeClr val="dk1"/>
              </a:buClr>
              <a:buSzPct val="32142"/>
              <a:buNone/>
            </a:pPr>
            <a:r>
              <a:rPr lang="en-IN" sz="5600" b="1" dirty="0">
                <a:solidFill>
                  <a:schemeClr val="dk1"/>
                </a:solidFill>
                <a:latin typeface="Times New Roman"/>
                <a:ea typeface="Times New Roman"/>
                <a:cs typeface="Times New Roman"/>
                <a:sym typeface="Times New Roman"/>
              </a:rPr>
              <a:t>              </a:t>
            </a:r>
          </a:p>
          <a:p>
            <a:pPr marL="0" lvl="0" indent="0" algn="l" rtl="0">
              <a:spcBef>
                <a:spcPts val="256"/>
              </a:spcBef>
              <a:spcAft>
                <a:spcPts val="0"/>
              </a:spcAft>
              <a:buClr>
                <a:schemeClr val="dk1"/>
              </a:buClr>
              <a:buSzPct val="32142"/>
              <a:buNone/>
            </a:pPr>
            <a:endParaRPr sz="5600" dirty="0">
              <a:latin typeface="Times New Roman"/>
              <a:ea typeface="Times New Roman"/>
              <a:cs typeface="Times New Roman"/>
              <a:sym typeface="Times New Roman"/>
            </a:endParaRPr>
          </a:p>
          <a:p>
            <a:pPr marL="0" lvl="0" indent="0" algn="l" rtl="0">
              <a:spcBef>
                <a:spcPts val="256"/>
              </a:spcBef>
              <a:spcAft>
                <a:spcPts val="0"/>
              </a:spcAft>
              <a:buClr>
                <a:schemeClr val="dk1"/>
              </a:buClr>
              <a:buSzPct val="28571"/>
              <a:buNone/>
            </a:pPr>
            <a:r>
              <a:rPr lang="en-IN" sz="5600" b="1" dirty="0">
                <a:solidFill>
                  <a:schemeClr val="dk1"/>
                </a:solidFill>
                <a:latin typeface="Times New Roman"/>
                <a:ea typeface="Times New Roman"/>
                <a:cs typeface="Times New Roman"/>
                <a:sym typeface="Times New Roman"/>
              </a:rPr>
              <a:t> </a:t>
            </a:r>
            <a:r>
              <a:rPr lang="en-IN" sz="5600" dirty="0">
                <a:solidFill>
                  <a:schemeClr val="dk1"/>
                </a:solidFill>
                <a:latin typeface="Times New Roman"/>
                <a:ea typeface="Times New Roman"/>
                <a:cs typeface="Times New Roman"/>
                <a:sym typeface="Times New Roman"/>
              </a:rPr>
              <a:t>  </a:t>
            </a:r>
            <a:r>
              <a:rPr lang="en-IN" sz="5600" b="1" dirty="0">
                <a:solidFill>
                  <a:schemeClr val="dk1"/>
                </a:solidFill>
                <a:latin typeface="Times New Roman"/>
                <a:ea typeface="Times New Roman"/>
                <a:cs typeface="Times New Roman"/>
                <a:sym typeface="Times New Roman"/>
              </a:rPr>
              <a:t>PROJECT COORDINATOR                                                                                               PRESENTED BY</a:t>
            </a:r>
            <a:endParaRPr sz="5600" dirty="0">
              <a:latin typeface="Times New Roman"/>
              <a:ea typeface="Times New Roman"/>
              <a:cs typeface="Times New Roman"/>
              <a:sym typeface="Times New Roman"/>
            </a:endParaRPr>
          </a:p>
          <a:p>
            <a:pPr marL="0" lvl="0" indent="0" algn="l" rtl="0">
              <a:spcBef>
                <a:spcPts val="256"/>
              </a:spcBef>
              <a:spcAft>
                <a:spcPts val="0"/>
              </a:spcAft>
              <a:buClr>
                <a:schemeClr val="dk1"/>
              </a:buClr>
              <a:buSzPct val="28571"/>
              <a:buNone/>
            </a:pPr>
            <a:r>
              <a:rPr lang="en-IN" sz="5600" b="1" dirty="0">
                <a:solidFill>
                  <a:schemeClr val="dk1"/>
                </a:solidFill>
                <a:latin typeface="Times New Roman"/>
                <a:ea typeface="Times New Roman"/>
                <a:cs typeface="Times New Roman"/>
                <a:sym typeface="Times New Roman"/>
              </a:rPr>
              <a:t>   </a:t>
            </a:r>
            <a:r>
              <a:rPr lang="en-IN" sz="5600" dirty="0">
                <a:solidFill>
                  <a:srgbClr val="0D0D0D"/>
                </a:solidFill>
                <a:latin typeface="Times New Roman"/>
                <a:ea typeface="Times New Roman"/>
                <a:cs typeface="Times New Roman"/>
                <a:sym typeface="Times New Roman"/>
              </a:rPr>
              <a:t>                                                                      			 </a:t>
            </a:r>
            <a:r>
              <a:rPr lang="en-IN" sz="5600" dirty="0" err="1">
                <a:solidFill>
                  <a:srgbClr val="0D0D0D"/>
                </a:solidFill>
                <a:latin typeface="Times New Roman"/>
                <a:ea typeface="Times New Roman"/>
                <a:cs typeface="Times New Roman"/>
                <a:sym typeface="Times New Roman"/>
              </a:rPr>
              <a:t>E.Sreenidhi</a:t>
            </a:r>
            <a:r>
              <a:rPr lang="en-IN" sz="5600" dirty="0">
                <a:solidFill>
                  <a:srgbClr val="0D0D0D"/>
                </a:solidFill>
                <a:latin typeface="Times New Roman"/>
                <a:ea typeface="Times New Roman"/>
                <a:cs typeface="Times New Roman"/>
                <a:sym typeface="Times New Roman"/>
              </a:rPr>
              <a:t>                              160623733144</a:t>
            </a:r>
            <a:endParaRPr sz="5600" dirty="0">
              <a:latin typeface="Times New Roman"/>
              <a:ea typeface="Times New Roman"/>
              <a:cs typeface="Times New Roman"/>
              <a:sym typeface="Times New Roman"/>
            </a:endParaRPr>
          </a:p>
          <a:p>
            <a:pPr marL="0" lvl="0" indent="0" algn="l" rtl="0">
              <a:spcBef>
                <a:spcPts val="256"/>
              </a:spcBef>
              <a:spcAft>
                <a:spcPts val="0"/>
              </a:spcAft>
              <a:buClr>
                <a:srgbClr val="0D0D0D"/>
              </a:buClr>
              <a:buSzPct val="32142"/>
              <a:buNone/>
            </a:pPr>
            <a:r>
              <a:rPr lang="en-IN" sz="5600" dirty="0">
                <a:solidFill>
                  <a:srgbClr val="0D0D0D"/>
                </a:solidFill>
                <a:latin typeface="Times New Roman"/>
                <a:ea typeface="Times New Roman"/>
                <a:cs typeface="Times New Roman"/>
                <a:sym typeface="Times New Roman"/>
              </a:rPr>
              <a:t>        Mr P. Abhishek Goud                                                                                 </a:t>
            </a:r>
            <a:r>
              <a:rPr lang="en-IN" sz="5600" dirty="0" err="1">
                <a:solidFill>
                  <a:srgbClr val="0D0D0D"/>
                </a:solidFill>
                <a:latin typeface="Times New Roman"/>
                <a:ea typeface="Times New Roman"/>
                <a:cs typeface="Times New Roman"/>
                <a:sym typeface="Times New Roman"/>
              </a:rPr>
              <a:t>M.Puja</a:t>
            </a:r>
            <a:r>
              <a:rPr lang="en-IN" sz="5600" dirty="0">
                <a:solidFill>
                  <a:srgbClr val="0D0D0D"/>
                </a:solidFill>
                <a:latin typeface="Times New Roman"/>
                <a:ea typeface="Times New Roman"/>
                <a:cs typeface="Times New Roman"/>
                <a:sym typeface="Times New Roman"/>
              </a:rPr>
              <a:t>                                     160623733160</a:t>
            </a:r>
            <a:endParaRPr sz="5600" dirty="0">
              <a:latin typeface="Times New Roman"/>
              <a:ea typeface="Times New Roman"/>
              <a:cs typeface="Times New Roman"/>
              <a:sym typeface="Times New Roman"/>
            </a:endParaRPr>
          </a:p>
          <a:p>
            <a:pPr marL="0" lvl="0" indent="0" algn="l" rtl="0">
              <a:spcBef>
                <a:spcPts val="256"/>
              </a:spcBef>
              <a:spcAft>
                <a:spcPts val="0"/>
              </a:spcAft>
              <a:buClr>
                <a:srgbClr val="0D0D0D"/>
              </a:buClr>
              <a:buSzPct val="32142"/>
              <a:buNone/>
            </a:pPr>
            <a:r>
              <a:rPr lang="en-IN" sz="5600" dirty="0">
                <a:solidFill>
                  <a:srgbClr val="0D0D0D"/>
                </a:solidFill>
                <a:latin typeface="Times New Roman"/>
                <a:ea typeface="Times New Roman"/>
                <a:cs typeface="Times New Roman"/>
                <a:sym typeface="Times New Roman"/>
              </a:rPr>
              <a:t>                                                                                                                             </a:t>
            </a:r>
            <a:r>
              <a:rPr lang="en-IN" sz="5600" dirty="0" err="1">
                <a:solidFill>
                  <a:srgbClr val="0D0D0D"/>
                </a:solidFill>
                <a:latin typeface="Times New Roman"/>
                <a:ea typeface="Times New Roman"/>
                <a:cs typeface="Times New Roman"/>
                <a:sym typeface="Times New Roman"/>
              </a:rPr>
              <a:t>M.Ujasvi</a:t>
            </a:r>
            <a:r>
              <a:rPr lang="en-IN" sz="5600" dirty="0">
                <a:solidFill>
                  <a:srgbClr val="0D0D0D"/>
                </a:solidFill>
                <a:latin typeface="Times New Roman"/>
                <a:ea typeface="Times New Roman"/>
                <a:cs typeface="Times New Roman"/>
                <a:sym typeface="Times New Roman"/>
              </a:rPr>
              <a:t>                                 160623733162</a:t>
            </a:r>
            <a:endParaRPr sz="5600" dirty="0">
              <a:latin typeface="Times New Roman"/>
              <a:ea typeface="Times New Roman"/>
              <a:cs typeface="Times New Roman"/>
              <a:sym typeface="Times New Roman"/>
            </a:endParaRPr>
          </a:p>
          <a:p>
            <a:pPr marL="0" lvl="0" indent="0" algn="l" rtl="0">
              <a:spcBef>
                <a:spcPts val="256"/>
              </a:spcBef>
              <a:spcAft>
                <a:spcPts val="0"/>
              </a:spcAft>
              <a:buClr>
                <a:srgbClr val="0D0D0D"/>
              </a:buClr>
              <a:buSzPct val="32142"/>
              <a:buNone/>
            </a:pPr>
            <a:r>
              <a:rPr lang="en-IN" sz="5600" dirty="0">
                <a:solidFill>
                  <a:srgbClr val="0D0D0D"/>
                </a:solidFill>
                <a:latin typeface="Times New Roman"/>
                <a:ea typeface="Times New Roman"/>
                <a:cs typeface="Times New Roman"/>
                <a:sym typeface="Times New Roman"/>
              </a:rPr>
              <a:t>                                                                                                                                          </a:t>
            </a:r>
            <a:endParaRPr sz="5600" dirty="0">
              <a:latin typeface="Times New Roman"/>
              <a:ea typeface="Times New Roman"/>
              <a:cs typeface="Times New Roman"/>
              <a:sym typeface="Times New Roman"/>
            </a:endParaRPr>
          </a:p>
          <a:p>
            <a:pPr marL="0" lvl="0" indent="0" algn="l" rtl="0">
              <a:spcBef>
                <a:spcPts val="256"/>
              </a:spcBef>
              <a:spcAft>
                <a:spcPts val="0"/>
              </a:spcAft>
              <a:buClr>
                <a:srgbClr val="0D0D0D"/>
              </a:buClr>
              <a:buSzPct val="32142"/>
              <a:buNone/>
            </a:pPr>
            <a:r>
              <a:rPr lang="en-IN" sz="5600" dirty="0">
                <a:solidFill>
                  <a:srgbClr val="0D0D0D"/>
                </a:solidFill>
                <a:highlight>
                  <a:srgbClr val="FFFF00"/>
                </a:highlight>
                <a:latin typeface="Times New Roman"/>
                <a:ea typeface="Times New Roman"/>
                <a:cs typeface="Times New Roman"/>
                <a:sym typeface="Times New Roman"/>
              </a:rPr>
              <a:t>                                                                                                                                           </a:t>
            </a:r>
            <a:endParaRPr sz="5600" dirty="0">
              <a:highlight>
                <a:srgbClr val="FFFF00"/>
              </a:highlight>
              <a:latin typeface="Times New Roman"/>
              <a:ea typeface="Times New Roman"/>
              <a:cs typeface="Times New Roman"/>
              <a:sym typeface="Times New Roman"/>
            </a:endParaRPr>
          </a:p>
          <a:p>
            <a:pPr marL="0" lvl="0" indent="0" algn="l" rtl="0">
              <a:spcBef>
                <a:spcPts val="228"/>
              </a:spcBef>
              <a:spcAft>
                <a:spcPts val="0"/>
              </a:spcAft>
              <a:buClr>
                <a:schemeClr val="dk1"/>
              </a:buClr>
              <a:buSzPct val="28571"/>
              <a:buNone/>
            </a:pPr>
            <a:r>
              <a:rPr lang="en-IN" sz="5600" b="1" dirty="0">
                <a:solidFill>
                  <a:schemeClr val="dk1"/>
                </a:solidFill>
                <a:latin typeface="Times New Roman"/>
                <a:ea typeface="Times New Roman"/>
                <a:cs typeface="Times New Roman"/>
                <a:sym typeface="Times New Roman"/>
              </a:rPr>
              <a:t>                 </a:t>
            </a:r>
            <a:r>
              <a:rPr lang="en-IN" sz="5600" dirty="0">
                <a:solidFill>
                  <a:schemeClr val="dk1"/>
                </a:solidFill>
                <a:latin typeface="Times New Roman"/>
                <a:ea typeface="Times New Roman"/>
                <a:cs typeface="Times New Roman"/>
                <a:sym typeface="Times New Roman"/>
              </a:rPr>
              <a:t>                                                                                                                                             </a:t>
            </a:r>
            <a:endParaRPr sz="5600" dirty="0">
              <a:latin typeface="Times New Roman"/>
              <a:ea typeface="Times New Roman"/>
              <a:cs typeface="Times New Roman"/>
              <a:sym typeface="Times New Roman"/>
            </a:endParaRPr>
          </a:p>
          <a:p>
            <a:pPr marL="0" lvl="0" indent="0" algn="l" rtl="0">
              <a:spcBef>
                <a:spcPts val="228"/>
              </a:spcBef>
              <a:spcAft>
                <a:spcPts val="0"/>
              </a:spcAft>
              <a:buClr>
                <a:schemeClr val="dk1"/>
              </a:buClr>
              <a:buSzPct val="28571"/>
              <a:buNone/>
            </a:pPr>
            <a:r>
              <a:rPr lang="en-IN" sz="5600" dirty="0">
                <a:solidFill>
                  <a:schemeClr val="dk1"/>
                </a:solidFill>
                <a:latin typeface="Times New Roman"/>
                <a:ea typeface="Times New Roman"/>
                <a:cs typeface="Times New Roman"/>
                <a:sym typeface="Times New Roman"/>
              </a:rPr>
              <a:t>                                                                                                                                                              </a:t>
            </a:r>
            <a:r>
              <a:rPr lang="en-IN" sz="5600" b="1" dirty="0">
                <a:solidFill>
                  <a:schemeClr val="dk1"/>
                </a:solidFill>
                <a:latin typeface="Times New Roman"/>
                <a:ea typeface="Times New Roman"/>
                <a:cs typeface="Times New Roman"/>
                <a:sym typeface="Times New Roman"/>
              </a:rPr>
              <a:t>                            </a:t>
            </a:r>
            <a:endParaRPr sz="5600" b="1" dirty="0">
              <a:solidFill>
                <a:schemeClr val="dk1"/>
              </a:solidFill>
              <a:latin typeface="Times New Roman"/>
              <a:ea typeface="Times New Roman"/>
              <a:cs typeface="Times New Roman"/>
              <a:sym typeface="Times New Roman"/>
            </a:endParaRPr>
          </a:p>
          <a:p>
            <a:pPr marL="0" lvl="0" indent="0" algn="ctr" rtl="0">
              <a:spcBef>
                <a:spcPts val="256"/>
              </a:spcBef>
              <a:spcAft>
                <a:spcPts val="0"/>
              </a:spcAft>
              <a:buClr>
                <a:schemeClr val="dk1"/>
              </a:buClr>
              <a:buSzPct val="32142"/>
              <a:buNone/>
            </a:pPr>
            <a:r>
              <a:rPr lang="en-IN" sz="5600" dirty="0">
                <a:solidFill>
                  <a:schemeClr val="dk1"/>
                </a:solidFill>
                <a:latin typeface="Times New Roman"/>
                <a:ea typeface="Times New Roman"/>
                <a:cs typeface="Times New Roman"/>
                <a:sym typeface="Times New Roman"/>
              </a:rPr>
              <a:t>                      </a:t>
            </a:r>
            <a:endParaRPr sz="5600" dirty="0">
              <a:solidFill>
                <a:schemeClr val="dk1"/>
              </a:solidFill>
              <a:latin typeface="Times New Roman"/>
              <a:ea typeface="Times New Roman"/>
              <a:cs typeface="Times New Roman"/>
              <a:sym typeface="Times New Roman"/>
            </a:endParaRPr>
          </a:p>
          <a:p>
            <a:pPr marL="0" lvl="0" indent="0" algn="ctr" rtl="0">
              <a:spcBef>
                <a:spcPts val="456"/>
              </a:spcBef>
              <a:spcAft>
                <a:spcPts val="0"/>
              </a:spcAft>
              <a:buClr>
                <a:srgbClr val="888888"/>
              </a:buClr>
              <a:buSzPct val="57142"/>
              <a:buNone/>
            </a:pPr>
            <a:endParaRPr sz="5600" dirty="0">
              <a:latin typeface="Times New Roman"/>
              <a:ea typeface="Times New Roman"/>
              <a:cs typeface="Times New Roman"/>
              <a:sym typeface="Times New Roman"/>
            </a:endParaRPr>
          </a:p>
          <a:p>
            <a:pPr marL="0" lvl="0" indent="0" algn="ctr" rtl="0">
              <a:spcBef>
                <a:spcPts val="456"/>
              </a:spcBef>
              <a:spcAft>
                <a:spcPts val="0"/>
              </a:spcAft>
              <a:buClr>
                <a:srgbClr val="888888"/>
              </a:buClr>
              <a:buSzPct val="100000"/>
              <a:buNone/>
            </a:pPr>
            <a:endParaRPr dirty="0"/>
          </a:p>
          <a:p>
            <a:pPr marL="0" lvl="0" indent="0" algn="ctr" rtl="0">
              <a:spcBef>
                <a:spcPts val="456"/>
              </a:spcBef>
              <a:spcAft>
                <a:spcPts val="0"/>
              </a:spcAft>
              <a:buClr>
                <a:srgbClr val="888888"/>
              </a:buClr>
              <a:buSzPct val="100000"/>
              <a:buNone/>
            </a:pPr>
            <a:endParaRPr dirty="0"/>
          </a:p>
          <a:p>
            <a:pPr marL="0" lvl="0" indent="0" algn="ctr" rtl="0">
              <a:spcBef>
                <a:spcPts val="456"/>
              </a:spcBef>
              <a:spcAft>
                <a:spcPts val="0"/>
              </a:spcAft>
              <a:buClr>
                <a:srgbClr val="888888"/>
              </a:buClr>
              <a:buSzPct val="100000"/>
              <a:buNone/>
            </a:pPr>
            <a:endParaRPr dirty="0"/>
          </a:p>
          <a:p>
            <a:pPr marL="0" lvl="0" indent="0" algn="ctr" rtl="0">
              <a:spcBef>
                <a:spcPts val="456"/>
              </a:spcBef>
              <a:spcAft>
                <a:spcPts val="0"/>
              </a:spcAft>
              <a:buClr>
                <a:srgbClr val="888888"/>
              </a:buClr>
              <a:buSzPct val="100000"/>
              <a:buNone/>
            </a:pPr>
            <a:endParaRPr dirty="0"/>
          </a:p>
        </p:txBody>
      </p:sp>
      <p:pic>
        <p:nvPicPr>
          <p:cNvPr id="90" name="Google Shape;90;p1"/>
          <p:cNvPicPr preferRelativeResize="0"/>
          <p:nvPr/>
        </p:nvPicPr>
        <p:blipFill rotWithShape="1">
          <a:blip r:embed="rId3">
            <a:alphaModFix/>
          </a:blip>
          <a:srcRect/>
          <a:stretch/>
        </p:blipFill>
        <p:spPr>
          <a:xfrm>
            <a:off x="5907400" y="2530250"/>
            <a:ext cx="824875" cy="898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851263" y="314959"/>
            <a:ext cx="10515600" cy="66040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a:buNone/>
            </a:pPr>
            <a:r>
              <a:rPr lang="en-IN" sz="4000" b="1" dirty="0">
                <a:latin typeface="Times New Roman"/>
                <a:ea typeface="Times New Roman"/>
                <a:cs typeface="Times New Roman"/>
                <a:sym typeface="Times New Roman"/>
              </a:rPr>
              <a:t>CONTENTS</a:t>
            </a:r>
            <a:endParaRPr dirty="0"/>
          </a:p>
        </p:txBody>
      </p:sp>
      <p:sp>
        <p:nvSpPr>
          <p:cNvPr id="96" name="Google Shape;96;p2"/>
          <p:cNvSpPr txBox="1">
            <a:spLocks noGrp="1"/>
          </p:cNvSpPr>
          <p:nvPr>
            <p:ph type="body" idx="1"/>
          </p:nvPr>
        </p:nvSpPr>
        <p:spPr>
          <a:xfrm>
            <a:off x="731660" y="975361"/>
            <a:ext cx="10972799" cy="5737956"/>
          </a:xfrm>
          <a:prstGeom prst="rect">
            <a:avLst/>
          </a:prstGeom>
          <a:noFill/>
          <a:ln>
            <a:noFill/>
          </a:ln>
        </p:spPr>
        <p:txBody>
          <a:bodyPr spcFirstLastPara="1" wrap="square" lIns="91425" tIns="45700" rIns="91425" bIns="45700" anchor="t" anchorCtr="0">
            <a:noAutofit/>
          </a:bodyPr>
          <a:lstStyle/>
          <a:p>
            <a:pPr marL="285750" lvl="0" indent="-285750" algn="l" rtl="0">
              <a:lnSpc>
                <a:spcPct val="150000"/>
              </a:lnSpc>
              <a:spcBef>
                <a:spcPts val="0"/>
              </a:spcBef>
              <a:spcAft>
                <a:spcPts val="0"/>
              </a:spcAft>
              <a:buClr>
                <a:schemeClr val="dk1"/>
              </a:buClr>
              <a:buSzPts val="2000"/>
              <a:buChar char="•"/>
            </a:pPr>
            <a:r>
              <a:rPr lang="en-IN" sz="1600" dirty="0">
                <a:latin typeface="Times New Roman"/>
                <a:ea typeface="Times New Roman"/>
                <a:cs typeface="Times New Roman"/>
                <a:sym typeface="Times New Roman"/>
              </a:rPr>
              <a:t>Abstract</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Introduction</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Literature Review</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Existing System</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Char char="•"/>
            </a:pPr>
            <a:r>
              <a:rPr lang="en-IN" sz="1600" dirty="0">
                <a:latin typeface="Times New Roman"/>
                <a:ea typeface="Times New Roman"/>
                <a:cs typeface="Times New Roman"/>
                <a:sym typeface="Times New Roman"/>
              </a:rPr>
              <a:t>Problem Statement</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Objectives</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Proposed System</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Architecture</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Implementation </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Result Analysis</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Limitations</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Conclusion and Future Scope</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Literature Survey</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References</a:t>
            </a:r>
            <a:endParaRPr sz="1600" dirty="0">
              <a:latin typeface="Times New Roman"/>
              <a:cs typeface="Times New Roman"/>
            </a:endParaRPr>
          </a:p>
          <a:p>
            <a:pPr marL="0" lvl="0" indent="0" algn="l" rtl="0">
              <a:lnSpc>
                <a:spcPct val="150000"/>
              </a:lnSpc>
              <a:spcBef>
                <a:spcPts val="400"/>
              </a:spcBef>
              <a:spcAft>
                <a:spcPts val="0"/>
              </a:spcAft>
              <a:buClr>
                <a:schemeClr val="dk1"/>
              </a:buClr>
              <a:buSzPts val="2000"/>
              <a:buNone/>
            </a:pPr>
            <a:endParaRPr sz="1600" dirty="0">
              <a:latin typeface="Times New Roman"/>
              <a:ea typeface="Times New Roman"/>
              <a:cs typeface="Times New Roman"/>
              <a:sym typeface="Times New Roman"/>
            </a:endParaRPr>
          </a:p>
          <a:p>
            <a:pPr marL="342900" lvl="0" indent="-215900" algn="l" rtl="0">
              <a:lnSpc>
                <a:spcPct val="150000"/>
              </a:lnSpc>
              <a:spcBef>
                <a:spcPts val="400"/>
              </a:spcBef>
              <a:spcAft>
                <a:spcPts val="0"/>
              </a:spcAft>
              <a:buClr>
                <a:schemeClr val="dk1"/>
              </a:buClr>
              <a:buSzPts val="2000"/>
              <a:buNone/>
            </a:pPr>
            <a:endParaRPr sz="1600" dirty="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txBox="1">
            <a:spLocks noGrp="1"/>
          </p:cNvSpPr>
          <p:nvPr>
            <p:ph type="title"/>
          </p:nvPr>
        </p:nvSpPr>
        <p:spPr>
          <a:xfrm>
            <a:off x="566738" y="1"/>
            <a:ext cx="10515600" cy="81438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a:buNone/>
            </a:pPr>
            <a:r>
              <a:rPr lang="en-IN" dirty="0">
                <a:latin typeface="Times New Roman"/>
                <a:ea typeface="Times New Roman"/>
                <a:cs typeface="Times New Roman"/>
                <a:sym typeface="Times New Roman"/>
              </a:rPr>
              <a:t>        </a:t>
            </a:r>
            <a:br>
              <a:rPr lang="en-IN" b="1" dirty="0">
                <a:latin typeface="Times New Roman"/>
                <a:ea typeface="Times New Roman"/>
                <a:cs typeface="Times New Roman"/>
                <a:sym typeface="Times New Roman"/>
              </a:rPr>
            </a:br>
            <a:r>
              <a:rPr lang="en-IN" sz="4000" b="1" dirty="0">
                <a:latin typeface="Times New Roman"/>
                <a:ea typeface="Times New Roman"/>
                <a:cs typeface="Times New Roman"/>
                <a:sym typeface="Times New Roman"/>
              </a:rPr>
              <a:t>ASTRACT</a:t>
            </a:r>
            <a:endParaRPr sz="4000" dirty="0"/>
          </a:p>
        </p:txBody>
      </p:sp>
      <p:sp>
        <p:nvSpPr>
          <p:cNvPr id="102" name="Google Shape;102;p3"/>
          <p:cNvSpPr txBox="1">
            <a:spLocks noGrp="1"/>
          </p:cNvSpPr>
          <p:nvPr>
            <p:ph type="body" idx="1"/>
          </p:nvPr>
        </p:nvSpPr>
        <p:spPr>
          <a:xfrm>
            <a:off x="966996" y="1588431"/>
            <a:ext cx="10115342" cy="3026447"/>
          </a:xfrm>
          <a:prstGeom prst="rect">
            <a:avLst/>
          </a:prstGeom>
          <a:noFill/>
          <a:ln>
            <a:noFill/>
          </a:ln>
        </p:spPr>
        <p:txBody>
          <a:bodyPr spcFirstLastPara="1" wrap="square" lIns="91425" tIns="45700" rIns="91425" bIns="45700" anchor="t" anchorCtr="0">
            <a:noAutofit/>
          </a:bodyPr>
          <a:lstStyle/>
          <a:p>
            <a:pPr marL="0" lvl="0" indent="0" algn="just">
              <a:lnSpc>
                <a:spcPct val="150000"/>
              </a:lnSpc>
              <a:spcBef>
                <a:spcPts val="0"/>
              </a:spcBef>
              <a:buSzPts val="2400"/>
              <a:buNone/>
            </a:pPr>
            <a:r>
              <a:rPr lang="en-US" sz="1600" dirty="0">
                <a:latin typeface="Times New Roman"/>
                <a:ea typeface="Times New Roman"/>
                <a:cs typeface="Times New Roman"/>
                <a:sym typeface="Times New Roman"/>
              </a:rPr>
              <a:t>The Smart Adaptive Attendance Intelligence System (SAAIS) is an intelligent attendance management platform designed to automate and secure student attendance monitoring. The system combines dynamic QR code verification, GPS location validation, Wi-Fi authentication, device binding, and contextual media capture to prevent proxy attendance and fraudulent submissions.</a:t>
            </a:r>
          </a:p>
          <a:p>
            <a:pPr marL="0" lvl="0" indent="0" algn="just">
              <a:lnSpc>
                <a:spcPct val="150000"/>
              </a:lnSpc>
              <a:spcBef>
                <a:spcPts val="0"/>
              </a:spcBef>
              <a:buSzPts val="2400"/>
              <a:buNone/>
            </a:pPr>
            <a:r>
              <a:rPr lang="en-US" sz="1600" dirty="0">
                <a:latin typeface="Times New Roman"/>
                <a:ea typeface="Times New Roman"/>
                <a:cs typeface="Times New Roman"/>
                <a:sym typeface="Times New Roman"/>
              </a:rPr>
              <a:t>The system performs multi-layer verification and calculates a confidence score to classify attendance records as Valid, Suspicious, or Rejected. Faculty members can monitor attendance in real time through a dashboard, while analytics modules provide attendance trends, risk assessment, and student performance insights. The proposed solution improves attendance accuracy, reduces manual effort, and enhances institutional efficiency.</a:t>
            </a:r>
            <a:endParaRPr sz="1800"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title"/>
          </p:nvPr>
        </p:nvSpPr>
        <p:spPr>
          <a:xfrm>
            <a:off x="1376789" y="375427"/>
            <a:ext cx="10515600" cy="862784"/>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Times New Roman"/>
              <a:buNone/>
            </a:pPr>
            <a:r>
              <a:rPr lang="en-IN" sz="3600" b="1" dirty="0">
                <a:latin typeface="Times New Roman"/>
                <a:ea typeface="Times New Roman"/>
                <a:cs typeface="Times New Roman"/>
                <a:sym typeface="Times New Roman"/>
              </a:rPr>
              <a:t>                      INTRODUCTION</a:t>
            </a:r>
            <a:endParaRPr sz="3600" dirty="0">
              <a:latin typeface="Times New Roman"/>
              <a:ea typeface="Times New Roman"/>
              <a:cs typeface="Times New Roman"/>
              <a:sym typeface="Times New Roman"/>
            </a:endParaRPr>
          </a:p>
        </p:txBody>
      </p:sp>
      <p:sp>
        <p:nvSpPr>
          <p:cNvPr id="110" name="Google Shape;110;p4"/>
          <p:cNvSpPr txBox="1">
            <a:spLocks noGrp="1"/>
          </p:cNvSpPr>
          <p:nvPr>
            <p:ph type="body" idx="1"/>
          </p:nvPr>
        </p:nvSpPr>
        <p:spPr>
          <a:xfrm>
            <a:off x="1270001" y="1543665"/>
            <a:ext cx="9123680" cy="3264309"/>
          </a:xfrm>
          <a:prstGeom prst="rect">
            <a:avLst/>
          </a:prstGeom>
          <a:noFill/>
          <a:ln>
            <a:noFill/>
          </a:ln>
        </p:spPr>
        <p:txBody>
          <a:bodyPr spcFirstLastPara="1" wrap="square" lIns="91425" tIns="45700" rIns="91425" bIns="45700" anchor="t" anchorCtr="0">
            <a:normAutofit/>
          </a:bodyPr>
          <a:lstStyle/>
          <a:p>
            <a:pPr marL="342900" lvl="0" indent="-135636" algn="just">
              <a:lnSpc>
                <a:spcPct val="150000"/>
              </a:lnSpc>
              <a:spcBef>
                <a:spcPts val="653"/>
              </a:spcBef>
              <a:buSzPct val="100000"/>
              <a:buNone/>
            </a:pPr>
            <a:r>
              <a:rPr lang="en-US" sz="1600" dirty="0">
                <a:latin typeface="Times New Roman"/>
                <a:ea typeface="Times New Roman"/>
                <a:cs typeface="Times New Roman"/>
                <a:sym typeface="Times New Roman"/>
              </a:rPr>
              <a:t>	Attendance monitoring is an essential activity in educational institutions. Traditional attendance methods such as paper registers and manual entry consume time and are prone to errors and manipulation.</a:t>
            </a:r>
          </a:p>
          <a:p>
            <a:pPr marL="342900" lvl="0" indent="-135636" algn="just">
              <a:lnSpc>
                <a:spcPct val="150000"/>
              </a:lnSpc>
              <a:spcBef>
                <a:spcPts val="653"/>
              </a:spcBef>
              <a:buSzPct val="100000"/>
              <a:buNone/>
            </a:pPr>
            <a:r>
              <a:rPr lang="en-US" sz="1600" dirty="0">
                <a:latin typeface="Times New Roman"/>
                <a:ea typeface="Times New Roman"/>
                <a:cs typeface="Times New Roman"/>
                <a:sym typeface="Times New Roman"/>
              </a:rPr>
              <a:t>	To overcome these limitations, SAAIS introduces an automated attendance solution that utilizes modern technologies including QR verification, location services, Wi-Fi validation, and intelligent analytics.</a:t>
            </a:r>
          </a:p>
          <a:p>
            <a:pPr marL="342900" lvl="0" indent="-135636" algn="just">
              <a:lnSpc>
                <a:spcPct val="150000"/>
              </a:lnSpc>
              <a:spcBef>
                <a:spcPts val="653"/>
              </a:spcBef>
              <a:buSzPct val="100000"/>
              <a:buNone/>
            </a:pPr>
            <a:r>
              <a:rPr lang="en-US" sz="1600" dirty="0">
                <a:latin typeface="Times New Roman"/>
                <a:ea typeface="Times New Roman"/>
                <a:cs typeface="Times New Roman"/>
                <a:sym typeface="Times New Roman"/>
              </a:rPr>
              <a:t>	The system ensures that attendance is recorded only when students are physically present in the classroom environment, thereby improving reliability and transparency.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5"/>
          <p:cNvSpPr txBox="1">
            <a:spLocks noGrp="1"/>
          </p:cNvSpPr>
          <p:nvPr>
            <p:ph type="title"/>
          </p:nvPr>
        </p:nvSpPr>
        <p:spPr>
          <a:xfrm>
            <a:off x="3213083" y="274320"/>
            <a:ext cx="10515600" cy="7874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Times New Roman"/>
              <a:buNone/>
            </a:pPr>
            <a:br>
              <a:rPr lang="en-IN" sz="4400" b="1" dirty="0">
                <a:latin typeface="Times New Roman"/>
                <a:ea typeface="Times New Roman"/>
                <a:cs typeface="Times New Roman"/>
                <a:sym typeface="Times New Roman"/>
              </a:rPr>
            </a:br>
            <a:r>
              <a:rPr lang="en-IN" sz="4000" b="1" dirty="0">
                <a:latin typeface="Times New Roman"/>
                <a:ea typeface="Times New Roman"/>
                <a:cs typeface="Times New Roman"/>
                <a:sym typeface="Times New Roman"/>
              </a:rPr>
              <a:t>LITERATURE</a:t>
            </a:r>
            <a:r>
              <a:rPr lang="en-IN" b="1" dirty="0">
                <a:latin typeface="Times New Roman"/>
                <a:ea typeface="Times New Roman"/>
                <a:cs typeface="Times New Roman"/>
                <a:sym typeface="Times New Roman"/>
              </a:rPr>
              <a:t> REVIEW </a:t>
            </a:r>
            <a:br>
              <a:rPr lang="en-IN" b="1" dirty="0">
                <a:latin typeface="Times New Roman"/>
                <a:ea typeface="Times New Roman"/>
                <a:cs typeface="Times New Roman"/>
                <a:sym typeface="Times New Roman"/>
              </a:rPr>
            </a:br>
            <a:r>
              <a:rPr lang="en-IN" b="1" dirty="0">
                <a:latin typeface="Times New Roman"/>
                <a:ea typeface="Times New Roman"/>
                <a:cs typeface="Times New Roman"/>
                <a:sym typeface="Times New Roman"/>
              </a:rPr>
              <a:t>       </a:t>
            </a:r>
            <a:endParaRPr dirty="0"/>
          </a:p>
        </p:txBody>
      </p:sp>
      <p:graphicFrame>
        <p:nvGraphicFramePr>
          <p:cNvPr id="7" name="Table 6">
            <a:extLst>
              <a:ext uri="{FF2B5EF4-FFF2-40B4-BE49-F238E27FC236}">
                <a16:creationId xmlns:a16="http://schemas.microsoft.com/office/drawing/2014/main" id="{71B44830-0592-536F-4FC0-4B89014CBB69}"/>
              </a:ext>
            </a:extLst>
          </p:cNvPr>
          <p:cNvGraphicFramePr>
            <a:graphicFrameLocks noGrp="1"/>
          </p:cNvGraphicFramePr>
          <p:nvPr>
            <p:extLst>
              <p:ext uri="{D42A27DB-BD31-4B8C-83A1-F6EECF244321}">
                <p14:modId xmlns:p14="http://schemas.microsoft.com/office/powerpoint/2010/main" val="2657244106"/>
              </p:ext>
            </p:extLst>
          </p:nvPr>
        </p:nvGraphicFramePr>
        <p:xfrm>
          <a:off x="609600" y="1447800"/>
          <a:ext cx="10972800" cy="4511040"/>
        </p:xfrm>
        <a:graphic>
          <a:graphicData uri="http://schemas.openxmlformats.org/drawingml/2006/table">
            <a:tbl>
              <a:tblPr>
                <a:tableStyleId>{5940675A-B579-460E-94D1-54222C63F5DA}</a:tableStyleId>
              </a:tblPr>
              <a:tblGrid>
                <a:gridCol w="2179320">
                  <a:extLst>
                    <a:ext uri="{9D8B030D-6E8A-4147-A177-3AD203B41FA5}">
                      <a16:colId xmlns:a16="http://schemas.microsoft.com/office/drawing/2014/main" val="2722961016"/>
                    </a:ext>
                  </a:extLst>
                </a:gridCol>
                <a:gridCol w="3307080">
                  <a:extLst>
                    <a:ext uri="{9D8B030D-6E8A-4147-A177-3AD203B41FA5}">
                      <a16:colId xmlns:a16="http://schemas.microsoft.com/office/drawing/2014/main" val="3185272182"/>
                    </a:ext>
                  </a:extLst>
                </a:gridCol>
                <a:gridCol w="2743200">
                  <a:extLst>
                    <a:ext uri="{9D8B030D-6E8A-4147-A177-3AD203B41FA5}">
                      <a16:colId xmlns:a16="http://schemas.microsoft.com/office/drawing/2014/main" val="2087308114"/>
                    </a:ext>
                  </a:extLst>
                </a:gridCol>
                <a:gridCol w="2743200">
                  <a:extLst>
                    <a:ext uri="{9D8B030D-6E8A-4147-A177-3AD203B41FA5}">
                      <a16:colId xmlns:a16="http://schemas.microsoft.com/office/drawing/2014/main" val="743812513"/>
                    </a:ext>
                  </a:extLst>
                </a:gridCol>
              </a:tblGrid>
              <a:tr h="751840">
                <a:tc>
                  <a:txBody>
                    <a:bodyPr/>
                    <a:lstStyle/>
                    <a:p>
                      <a:pPr>
                        <a:buNone/>
                      </a:pPr>
                      <a:r>
                        <a:rPr lang="en-IN" sz="1600" b="1" dirty="0" err="1">
                          <a:latin typeface="Times New Roman" panose="02020603050405020304" pitchFamily="18" charset="0"/>
                          <a:cs typeface="Times New Roman" panose="02020603050405020304" pitchFamily="18" charset="0"/>
                        </a:rPr>
                        <a:t>S.No</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latin typeface="Times New Roman" panose="02020603050405020304" pitchFamily="18" charset="0"/>
                          <a:cs typeface="Times New Roman" panose="02020603050405020304" pitchFamily="18" charset="0"/>
                        </a:rPr>
                        <a:t>Research Area</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Key Findings</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Limitations</a:t>
                      </a:r>
                    </a:p>
                  </a:txBody>
                  <a:tcPr anchor="ctr"/>
                </a:tc>
                <a:extLst>
                  <a:ext uri="{0D108BD9-81ED-4DB2-BD59-A6C34878D82A}">
                    <a16:rowId xmlns:a16="http://schemas.microsoft.com/office/drawing/2014/main" val="3981825746"/>
                  </a:ext>
                </a:extLst>
              </a:tr>
              <a:tr h="751840">
                <a:tc>
                  <a:txBody>
                    <a:bodyPr/>
                    <a:lstStyle/>
                    <a:p>
                      <a:pPr>
                        <a:buNone/>
                      </a:pPr>
                      <a:r>
                        <a:rPr lang="en-IN" sz="1600" dirty="0">
                          <a:latin typeface="Times New Roman" panose="02020603050405020304" pitchFamily="18" charset="0"/>
                          <a:cs typeface="Times New Roman" panose="02020603050405020304" pitchFamily="18" charset="0"/>
                        </a:rPr>
                        <a:t>1</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QR Based Attendance Systems</a:t>
                      </a:r>
                    </a:p>
                  </a:txBody>
                  <a:tcPr anchor="ctr"/>
                </a:tc>
                <a:tc>
                  <a:txBody>
                    <a:bodyPr/>
                    <a:lstStyle/>
                    <a:p>
                      <a:pPr>
                        <a:buNone/>
                      </a:pPr>
                      <a:r>
                        <a:rPr lang="en-IN" sz="1600">
                          <a:latin typeface="Times New Roman" panose="02020603050405020304" pitchFamily="18" charset="0"/>
                          <a:cs typeface="Times New Roman" panose="02020603050405020304" pitchFamily="18" charset="0"/>
                        </a:rPr>
                        <a:t>Faster attendance recording</a:t>
                      </a:r>
                    </a:p>
                  </a:txBody>
                  <a:tcPr anchor="ctr"/>
                </a:tc>
                <a:tc>
                  <a:txBody>
                    <a:bodyPr/>
                    <a:lstStyle/>
                    <a:p>
                      <a:pPr>
                        <a:buNone/>
                      </a:pPr>
                      <a:r>
                        <a:rPr lang="en-IN" sz="1600">
                          <a:latin typeface="Times New Roman" panose="02020603050405020304" pitchFamily="18" charset="0"/>
                          <a:cs typeface="Times New Roman" panose="02020603050405020304" pitchFamily="18" charset="0"/>
                        </a:rPr>
                        <a:t>Vulnerable to QR sharing</a:t>
                      </a:r>
                    </a:p>
                  </a:txBody>
                  <a:tcPr anchor="ctr"/>
                </a:tc>
                <a:extLst>
                  <a:ext uri="{0D108BD9-81ED-4DB2-BD59-A6C34878D82A}">
                    <a16:rowId xmlns:a16="http://schemas.microsoft.com/office/drawing/2014/main" val="3234710190"/>
                  </a:ext>
                </a:extLst>
              </a:tr>
              <a:tr h="751840">
                <a:tc>
                  <a:txBody>
                    <a:bodyPr/>
                    <a:lstStyle/>
                    <a:p>
                      <a:pPr>
                        <a:buNone/>
                      </a:pPr>
                      <a:r>
                        <a:rPr lang="en-IN" sz="1600">
                          <a:latin typeface="Times New Roman" panose="02020603050405020304" pitchFamily="18" charset="0"/>
                          <a:cs typeface="Times New Roman" panose="02020603050405020304" pitchFamily="18" charset="0"/>
                        </a:rPr>
                        <a:t>2</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GPS Attendance Systems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Verifies location</a:t>
                      </a:r>
                    </a:p>
                  </a:txBody>
                  <a:tcPr anchor="ctr"/>
                </a:tc>
                <a:tc>
                  <a:txBody>
                    <a:bodyPr/>
                    <a:lstStyle/>
                    <a:p>
                      <a:pPr>
                        <a:buNone/>
                      </a:pPr>
                      <a:r>
                        <a:rPr lang="en-IN" sz="1600">
                          <a:latin typeface="Times New Roman" panose="02020603050405020304" pitchFamily="18" charset="0"/>
                          <a:cs typeface="Times New Roman" panose="02020603050405020304" pitchFamily="18" charset="0"/>
                        </a:rPr>
                        <a:t>GPS spoofing possible</a:t>
                      </a:r>
                    </a:p>
                  </a:txBody>
                  <a:tcPr anchor="ctr"/>
                </a:tc>
                <a:extLst>
                  <a:ext uri="{0D108BD9-81ED-4DB2-BD59-A6C34878D82A}">
                    <a16:rowId xmlns:a16="http://schemas.microsoft.com/office/drawing/2014/main" val="2052276384"/>
                  </a:ext>
                </a:extLst>
              </a:tr>
              <a:tr h="751840">
                <a:tc>
                  <a:txBody>
                    <a:bodyPr/>
                    <a:lstStyle/>
                    <a:p>
                      <a:pPr>
                        <a:buNone/>
                      </a:pPr>
                      <a:r>
                        <a:rPr lang="en-IN" sz="1600">
                          <a:latin typeface="Times New Roman" panose="02020603050405020304" pitchFamily="18" charset="0"/>
                          <a:cs typeface="Times New Roman" panose="02020603050405020304" pitchFamily="18" charset="0"/>
                        </a:rPr>
                        <a:t>3</a:t>
                      </a:r>
                    </a:p>
                  </a:txBody>
                  <a:tcPr anchor="ctr"/>
                </a:tc>
                <a:tc>
                  <a:txBody>
                    <a:bodyPr/>
                    <a:lstStyle/>
                    <a:p>
                      <a:pPr>
                        <a:buNone/>
                      </a:pPr>
                      <a:r>
                        <a:rPr lang="en-IN" sz="1600">
                          <a:latin typeface="Times New Roman" panose="02020603050405020304" pitchFamily="18" charset="0"/>
                          <a:cs typeface="Times New Roman" panose="02020603050405020304" pitchFamily="18" charset="0"/>
                        </a:rPr>
                        <a:t>RFID Attendance Systems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Quick identification</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Requires additional hardware</a:t>
                      </a:r>
                    </a:p>
                  </a:txBody>
                  <a:tcPr anchor="ctr"/>
                </a:tc>
                <a:extLst>
                  <a:ext uri="{0D108BD9-81ED-4DB2-BD59-A6C34878D82A}">
                    <a16:rowId xmlns:a16="http://schemas.microsoft.com/office/drawing/2014/main" val="548375323"/>
                  </a:ext>
                </a:extLst>
              </a:tr>
              <a:tr h="751840">
                <a:tc>
                  <a:txBody>
                    <a:bodyPr/>
                    <a:lstStyle/>
                    <a:p>
                      <a:pPr>
                        <a:buNone/>
                      </a:pPr>
                      <a:r>
                        <a:rPr lang="en-IN" sz="1600">
                          <a:latin typeface="Times New Roman" panose="02020603050405020304" pitchFamily="18" charset="0"/>
                          <a:cs typeface="Times New Roman" panose="02020603050405020304" pitchFamily="18" charset="0"/>
                        </a:rPr>
                        <a:t>4</a:t>
                      </a:r>
                    </a:p>
                  </a:txBody>
                  <a:tcPr anchor="ctr"/>
                </a:tc>
                <a:tc>
                  <a:txBody>
                    <a:bodyPr/>
                    <a:lstStyle/>
                    <a:p>
                      <a:pPr>
                        <a:buNone/>
                      </a:pPr>
                      <a:r>
                        <a:rPr lang="en-IN" sz="1600">
                          <a:latin typeface="Times New Roman" panose="02020603050405020304" pitchFamily="18" charset="0"/>
                          <a:cs typeface="Times New Roman" panose="02020603050405020304" pitchFamily="18" charset="0"/>
                        </a:rPr>
                        <a:t>Facial Recognition Systems</a:t>
                      </a:r>
                    </a:p>
                  </a:txBody>
                  <a:tcPr anchor="ctr"/>
                </a:tc>
                <a:tc>
                  <a:txBody>
                    <a:bodyPr/>
                    <a:lstStyle/>
                    <a:p>
                      <a:pPr>
                        <a:buNone/>
                      </a:pPr>
                      <a:r>
                        <a:rPr lang="en-IN" sz="1600">
                          <a:latin typeface="Times New Roman" panose="02020603050405020304" pitchFamily="18" charset="0"/>
                          <a:cs typeface="Times New Roman" panose="02020603050405020304" pitchFamily="18" charset="0"/>
                        </a:rPr>
                        <a:t>High security</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Privacy concerns and cost</a:t>
                      </a:r>
                    </a:p>
                  </a:txBody>
                  <a:tcPr anchor="ctr"/>
                </a:tc>
                <a:extLst>
                  <a:ext uri="{0D108BD9-81ED-4DB2-BD59-A6C34878D82A}">
                    <a16:rowId xmlns:a16="http://schemas.microsoft.com/office/drawing/2014/main" val="3567795779"/>
                  </a:ext>
                </a:extLst>
              </a:tr>
              <a:tr h="751840">
                <a:tc>
                  <a:txBody>
                    <a:bodyPr/>
                    <a:lstStyle/>
                    <a:p>
                      <a:pPr>
                        <a:buNone/>
                      </a:pPr>
                      <a:r>
                        <a:rPr lang="en-IN" sz="1600">
                          <a:latin typeface="Times New Roman" panose="02020603050405020304" pitchFamily="18" charset="0"/>
                          <a:cs typeface="Times New Roman" panose="02020603050405020304" pitchFamily="18" charset="0"/>
                        </a:rPr>
                        <a:t>5</a:t>
                      </a:r>
                    </a:p>
                  </a:txBody>
                  <a:tcPr anchor="ctr"/>
                </a:tc>
                <a:tc>
                  <a:txBody>
                    <a:bodyPr/>
                    <a:lstStyle/>
                    <a:p>
                      <a:pPr>
                        <a:buNone/>
                      </a:pPr>
                      <a:r>
                        <a:rPr lang="en-IN" sz="1600">
                          <a:latin typeface="Times New Roman" panose="02020603050405020304" pitchFamily="18" charset="0"/>
                          <a:cs typeface="Times New Roman" panose="02020603050405020304" pitchFamily="18" charset="0"/>
                        </a:rPr>
                        <a:t>Smart Attendance Analytics</a:t>
                      </a:r>
                    </a:p>
                  </a:txBody>
                  <a:tcPr anchor="ctr"/>
                </a:tc>
                <a:tc>
                  <a:txBody>
                    <a:bodyPr/>
                    <a:lstStyle/>
                    <a:p>
                      <a:pPr>
                        <a:buNone/>
                      </a:pPr>
                      <a:r>
                        <a:rPr lang="en-IN" sz="1600">
                          <a:latin typeface="Times New Roman" panose="02020603050405020304" pitchFamily="18" charset="0"/>
                          <a:cs typeface="Times New Roman" panose="02020603050405020304" pitchFamily="18" charset="0"/>
                        </a:rPr>
                        <a:t>Generates attendance insights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Limited verification mechanisms</a:t>
                      </a:r>
                    </a:p>
                  </a:txBody>
                  <a:tcPr anchor="ctr"/>
                </a:tc>
                <a:extLst>
                  <a:ext uri="{0D108BD9-81ED-4DB2-BD59-A6C34878D82A}">
                    <a16:rowId xmlns:a16="http://schemas.microsoft.com/office/drawing/2014/main" val="227792561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F2AA0-640F-3364-7DD3-9ABD12747650}"/>
              </a:ext>
            </a:extLst>
          </p:cNvPr>
          <p:cNvSpPr>
            <a:spLocks noGrp="1"/>
          </p:cNvSpPr>
          <p:nvPr>
            <p:ph type="title"/>
          </p:nvPr>
        </p:nvSpPr>
        <p:spPr/>
        <p:txBody>
          <a:bodyPr>
            <a:normAutofit/>
          </a:bodyPr>
          <a:lstStyle/>
          <a:p>
            <a:r>
              <a:rPr lang="en-IN" sz="3600" b="1" dirty="0">
                <a:latin typeface="Times New Roman"/>
                <a:cs typeface="Times New Roman"/>
              </a:rPr>
              <a:t>PROBLEM</a:t>
            </a:r>
            <a:r>
              <a:rPr lang="en-IN" sz="4000" b="1" dirty="0">
                <a:latin typeface="Times New Roman"/>
                <a:cs typeface="Times New Roman"/>
              </a:rPr>
              <a:t> STATMENT</a:t>
            </a:r>
          </a:p>
        </p:txBody>
      </p:sp>
      <p:sp>
        <p:nvSpPr>
          <p:cNvPr id="3" name="Text Placeholder 2">
            <a:extLst>
              <a:ext uri="{FF2B5EF4-FFF2-40B4-BE49-F238E27FC236}">
                <a16:creationId xmlns:a16="http://schemas.microsoft.com/office/drawing/2014/main" id="{951D404D-3D74-23B5-DA71-631FFB6FF002}"/>
              </a:ext>
            </a:extLst>
          </p:cNvPr>
          <p:cNvSpPr>
            <a:spLocks noGrp="1"/>
          </p:cNvSpPr>
          <p:nvPr>
            <p:ph type="body" idx="1"/>
          </p:nvPr>
        </p:nvSpPr>
        <p:spPr>
          <a:xfrm>
            <a:off x="1859280" y="1600202"/>
            <a:ext cx="8290560" cy="2700866"/>
          </a:xfrm>
        </p:spPr>
        <p:txBody>
          <a:bodyPr>
            <a:normAutofit/>
          </a:bodyPr>
          <a:lstStyle/>
          <a:p>
            <a:pPr marL="114300" indent="0" algn="just">
              <a:lnSpc>
                <a:spcPct val="150000"/>
              </a:lnSpc>
              <a:buNone/>
            </a:pPr>
            <a:r>
              <a:rPr lang="en-US" sz="1600" dirty="0">
                <a:latin typeface="Times New Roman"/>
                <a:ea typeface="Times New Roman"/>
                <a:cs typeface="Times New Roman"/>
              </a:rPr>
              <a:t>Educational institutions face challenges in ensuring accurate attendance records due to proxy attendance, unauthorized access, and manual record management.</a:t>
            </a:r>
          </a:p>
          <a:p>
            <a:pPr marL="114300" indent="0" algn="just">
              <a:lnSpc>
                <a:spcPct val="150000"/>
              </a:lnSpc>
              <a:buNone/>
            </a:pPr>
            <a:r>
              <a:rPr lang="en-US" sz="1600" dirty="0">
                <a:latin typeface="Times New Roman"/>
                <a:ea typeface="Times New Roman"/>
                <a:cs typeface="Times New Roman"/>
              </a:rPr>
              <a:t>Existing solutions fail to verify actual student presence effectively and provide limited analytical insights.</a:t>
            </a:r>
          </a:p>
          <a:p>
            <a:pPr marL="114300" indent="0" algn="just">
              <a:lnSpc>
                <a:spcPct val="150000"/>
              </a:lnSpc>
              <a:buNone/>
            </a:pPr>
            <a:r>
              <a:rPr lang="en-US" sz="1600" dirty="0">
                <a:latin typeface="Times New Roman"/>
                <a:ea typeface="Times New Roman"/>
                <a:cs typeface="Times New Roman"/>
              </a:rPr>
              <a:t>A secure and intelligent attendance system is required that can validate student identity, location, device authenticity, and attendance behavior while providing real-time monitoring and analytics.</a:t>
            </a:r>
            <a:endParaRPr lang="en-IN" sz="2000" dirty="0"/>
          </a:p>
        </p:txBody>
      </p:sp>
    </p:spTree>
    <p:extLst>
      <p:ext uri="{BB962C8B-B14F-4D97-AF65-F5344CB8AC3E}">
        <p14:creationId xmlns:p14="http://schemas.microsoft.com/office/powerpoint/2010/main" val="2056679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5271A-8036-9803-5EEA-29365F048AF0}"/>
              </a:ext>
            </a:extLst>
          </p:cNvPr>
          <p:cNvSpPr>
            <a:spLocks noGrp="1"/>
          </p:cNvSpPr>
          <p:nvPr>
            <p:ph type="title"/>
          </p:nvPr>
        </p:nvSpPr>
        <p:spPr>
          <a:xfrm>
            <a:off x="609600" y="274638"/>
            <a:ext cx="10972800" cy="1143000"/>
          </a:xfrm>
        </p:spPr>
        <p:txBody>
          <a:bodyPr>
            <a:normAutofit/>
          </a:bodyPr>
          <a:lstStyle/>
          <a:p>
            <a:r>
              <a:rPr lang="en-IN" sz="3600" b="1" dirty="0">
                <a:latin typeface="Times New Roman"/>
                <a:cs typeface="Times New Roman"/>
              </a:rPr>
              <a:t>OBJECTIVES</a:t>
            </a:r>
          </a:p>
        </p:txBody>
      </p:sp>
      <p:sp>
        <p:nvSpPr>
          <p:cNvPr id="13" name="Text Placeholder 12">
            <a:extLst>
              <a:ext uri="{FF2B5EF4-FFF2-40B4-BE49-F238E27FC236}">
                <a16:creationId xmlns:a16="http://schemas.microsoft.com/office/drawing/2014/main" id="{1FD4A643-2F8C-C480-8BA9-A93ADD41B0EC}"/>
              </a:ext>
            </a:extLst>
          </p:cNvPr>
          <p:cNvSpPr>
            <a:spLocks noGrp="1"/>
          </p:cNvSpPr>
          <p:nvPr>
            <p:ph type="body" idx="1"/>
          </p:nvPr>
        </p:nvSpPr>
        <p:spPr>
          <a:xfrm>
            <a:off x="609600" y="1600201"/>
            <a:ext cx="10972800" cy="3855719"/>
          </a:xfrm>
        </p:spPr>
        <p:txBody>
          <a:bodyPr>
            <a:noAutofit/>
          </a:bodyPr>
          <a:lstStyle/>
          <a:p>
            <a:pPr algn="just">
              <a:lnSpc>
                <a:spcPct val="150000"/>
              </a:lnSpc>
              <a:buNone/>
            </a:pPr>
            <a:r>
              <a:rPr lang="en-IN" sz="1600" b="1" dirty="0">
                <a:latin typeface="Times New Roman"/>
                <a:cs typeface="Times New Roman"/>
              </a:rPr>
              <a:t>Primary Objectives</a:t>
            </a:r>
          </a:p>
          <a:p>
            <a:pPr algn="just">
              <a:lnSpc>
                <a:spcPct val="150000"/>
              </a:lnSpc>
              <a:buFont typeface="Times New Roman" panose="020B0604020202020204" pitchFamily="34" charset="0"/>
              <a:buChar char="•"/>
            </a:pPr>
            <a:r>
              <a:rPr lang="en-IN" sz="1600" dirty="0">
                <a:latin typeface="Times New Roman"/>
                <a:cs typeface="Times New Roman"/>
              </a:rPr>
              <a:t>Automate attendance recording </a:t>
            </a:r>
          </a:p>
          <a:p>
            <a:pPr algn="just">
              <a:lnSpc>
                <a:spcPct val="150000"/>
              </a:lnSpc>
              <a:buFont typeface="Times New Roman" panose="020B0604020202020204" pitchFamily="34" charset="0"/>
              <a:buChar char="•"/>
            </a:pPr>
            <a:r>
              <a:rPr lang="en-IN" sz="1600" dirty="0">
                <a:latin typeface="Times New Roman"/>
                <a:cs typeface="Times New Roman"/>
              </a:rPr>
              <a:t>Eliminate proxy attendance </a:t>
            </a:r>
          </a:p>
          <a:p>
            <a:pPr algn="just">
              <a:lnSpc>
                <a:spcPct val="150000"/>
              </a:lnSpc>
              <a:buFont typeface="Times New Roman" panose="020B0604020202020204" pitchFamily="34" charset="0"/>
              <a:buChar char="•"/>
            </a:pPr>
            <a:r>
              <a:rPr lang="en-IN" sz="1600" dirty="0">
                <a:latin typeface="Times New Roman"/>
                <a:cs typeface="Times New Roman"/>
              </a:rPr>
              <a:t>Verify physical classroom presence </a:t>
            </a:r>
          </a:p>
          <a:p>
            <a:pPr algn="just">
              <a:lnSpc>
                <a:spcPct val="150000"/>
              </a:lnSpc>
              <a:buFont typeface="Times New Roman" panose="020B0604020202020204" pitchFamily="34" charset="0"/>
              <a:buChar char="•"/>
            </a:pPr>
            <a:r>
              <a:rPr lang="en-IN" sz="1600" dirty="0">
                <a:latin typeface="Times New Roman"/>
                <a:cs typeface="Times New Roman"/>
              </a:rPr>
              <a:t>Provide real-time attendance tracking </a:t>
            </a:r>
          </a:p>
          <a:p>
            <a:pPr algn="just">
              <a:lnSpc>
                <a:spcPct val="150000"/>
              </a:lnSpc>
              <a:buFont typeface="Times New Roman" panose="020B0604020202020204" pitchFamily="34" charset="0"/>
              <a:buChar char="•"/>
            </a:pPr>
            <a:r>
              <a:rPr lang="en-IN" sz="1600" dirty="0">
                <a:latin typeface="Times New Roman"/>
                <a:cs typeface="Times New Roman"/>
              </a:rPr>
              <a:t>Generate attendance analytics </a:t>
            </a:r>
          </a:p>
          <a:p>
            <a:pPr algn="just">
              <a:lnSpc>
                <a:spcPct val="150000"/>
              </a:lnSpc>
              <a:buNone/>
            </a:pPr>
            <a:r>
              <a:rPr lang="en-IN" sz="1600" b="1" dirty="0">
                <a:latin typeface="Times New Roman"/>
                <a:cs typeface="Times New Roman"/>
              </a:rPr>
              <a:t>Secondary Objectives</a:t>
            </a:r>
          </a:p>
          <a:p>
            <a:pPr algn="just">
              <a:lnSpc>
                <a:spcPct val="150000"/>
              </a:lnSpc>
              <a:buFont typeface="Times New Roman" panose="020B0604020202020204" pitchFamily="34" charset="0"/>
              <a:buChar char="•"/>
            </a:pPr>
            <a:r>
              <a:rPr lang="en-IN" sz="1600" dirty="0">
                <a:latin typeface="Times New Roman"/>
                <a:cs typeface="Times New Roman"/>
              </a:rPr>
              <a:t>Improve faculty productivity </a:t>
            </a:r>
          </a:p>
          <a:p>
            <a:pPr algn="just">
              <a:lnSpc>
                <a:spcPct val="150000"/>
              </a:lnSpc>
              <a:buFont typeface="Times New Roman" panose="020B0604020202020204" pitchFamily="34" charset="0"/>
              <a:buChar char="•"/>
            </a:pPr>
            <a:r>
              <a:rPr lang="en-IN" sz="1600" dirty="0">
                <a:latin typeface="Times New Roman"/>
                <a:cs typeface="Times New Roman"/>
              </a:rPr>
              <a:t>Reduce manual effort </a:t>
            </a:r>
          </a:p>
          <a:p>
            <a:pPr algn="just">
              <a:lnSpc>
                <a:spcPct val="150000"/>
              </a:lnSpc>
              <a:buFont typeface="Times New Roman" panose="020B0604020202020204" pitchFamily="34" charset="0"/>
              <a:buChar char="•"/>
            </a:pPr>
            <a:r>
              <a:rPr lang="en-IN" sz="1600" dirty="0">
                <a:latin typeface="Times New Roman"/>
                <a:cs typeface="Times New Roman"/>
              </a:rPr>
              <a:t>Detect suspicious attendance attempts </a:t>
            </a:r>
          </a:p>
          <a:p>
            <a:pPr algn="just">
              <a:lnSpc>
                <a:spcPct val="150000"/>
              </a:lnSpc>
              <a:buFont typeface="Times New Roman" panose="020B0604020202020204" pitchFamily="34" charset="0"/>
              <a:buChar char="•"/>
            </a:pPr>
            <a:r>
              <a:rPr lang="en-IN" sz="1600" dirty="0">
                <a:latin typeface="Times New Roman"/>
                <a:cs typeface="Times New Roman"/>
              </a:rPr>
              <a:t>Generate attendance reports automatically</a:t>
            </a:r>
          </a:p>
          <a:p>
            <a:pPr algn="just">
              <a:lnSpc>
                <a:spcPct val="150000"/>
              </a:lnSpc>
            </a:pPr>
            <a:endParaRPr lang="en-IN" sz="1600" dirty="0">
              <a:latin typeface="Times New Roman"/>
              <a:cs typeface="Times New Roman"/>
            </a:endParaRPr>
          </a:p>
        </p:txBody>
      </p:sp>
    </p:spTree>
    <p:extLst>
      <p:ext uri="{BB962C8B-B14F-4D97-AF65-F5344CB8AC3E}">
        <p14:creationId xmlns:p14="http://schemas.microsoft.com/office/powerpoint/2010/main" val="2951513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D1041-A4DD-A424-6F3B-C68CD2E1C1C9}"/>
              </a:ext>
            </a:extLst>
          </p:cNvPr>
          <p:cNvSpPr>
            <a:spLocks noGrp="1"/>
          </p:cNvSpPr>
          <p:nvPr>
            <p:ph type="title"/>
          </p:nvPr>
        </p:nvSpPr>
        <p:spPr/>
        <p:txBody>
          <a:bodyPr>
            <a:normAutofit/>
          </a:bodyPr>
          <a:lstStyle/>
          <a:p>
            <a:r>
              <a:rPr lang="en-IN" sz="3600" b="1" dirty="0">
                <a:latin typeface="Times New Roman"/>
                <a:cs typeface="Times New Roman"/>
              </a:rPr>
              <a:t>EXISTING SYSTEM </a:t>
            </a:r>
          </a:p>
        </p:txBody>
      </p:sp>
      <p:sp>
        <p:nvSpPr>
          <p:cNvPr id="3" name="Text Placeholder 2">
            <a:extLst>
              <a:ext uri="{FF2B5EF4-FFF2-40B4-BE49-F238E27FC236}">
                <a16:creationId xmlns:a16="http://schemas.microsoft.com/office/drawing/2014/main" id="{E3A6CBD6-6D80-91A8-6C1E-662BF66172FE}"/>
              </a:ext>
            </a:extLst>
          </p:cNvPr>
          <p:cNvSpPr>
            <a:spLocks noGrp="1"/>
          </p:cNvSpPr>
          <p:nvPr>
            <p:ph type="body" idx="1"/>
          </p:nvPr>
        </p:nvSpPr>
        <p:spPr>
          <a:xfrm>
            <a:off x="694481" y="1600202"/>
            <a:ext cx="4310138" cy="4267198"/>
          </a:xfrm>
        </p:spPr>
        <p:txBody>
          <a:bodyPr>
            <a:noAutofit/>
          </a:bodyPr>
          <a:lstStyle/>
          <a:p>
            <a:pPr marL="114300" indent="0" algn="just">
              <a:lnSpc>
                <a:spcPct val="150000"/>
              </a:lnSpc>
              <a:buNone/>
            </a:pPr>
            <a:r>
              <a:rPr lang="en-IN" sz="1600" b="1" dirty="0">
                <a:latin typeface="Times New Roman"/>
                <a:cs typeface="Times New Roman"/>
              </a:rPr>
              <a:t>Current attendance systems generally use:</a:t>
            </a:r>
          </a:p>
          <a:p>
            <a:pPr algn="just">
              <a:lnSpc>
                <a:spcPct val="150000"/>
              </a:lnSpc>
            </a:pPr>
            <a:r>
              <a:rPr lang="en-IN" sz="1600" dirty="0">
                <a:latin typeface="Times New Roman"/>
                <a:cs typeface="Times New Roman"/>
              </a:rPr>
              <a:t>Manual attendance registers </a:t>
            </a:r>
          </a:p>
          <a:p>
            <a:pPr algn="just">
              <a:lnSpc>
                <a:spcPct val="150000"/>
              </a:lnSpc>
            </a:pPr>
            <a:r>
              <a:rPr lang="en-IN" sz="1600" dirty="0">
                <a:latin typeface="Times New Roman"/>
                <a:cs typeface="Times New Roman"/>
              </a:rPr>
              <a:t>RFID cards </a:t>
            </a:r>
          </a:p>
          <a:p>
            <a:pPr algn="just">
              <a:lnSpc>
                <a:spcPct val="150000"/>
              </a:lnSpc>
            </a:pPr>
            <a:r>
              <a:rPr lang="en-IN" sz="1600" dirty="0">
                <a:latin typeface="Times New Roman"/>
                <a:cs typeface="Times New Roman"/>
              </a:rPr>
              <a:t>Biometric scanners </a:t>
            </a:r>
          </a:p>
          <a:p>
            <a:pPr algn="just">
              <a:lnSpc>
                <a:spcPct val="150000"/>
              </a:lnSpc>
            </a:pPr>
            <a:r>
              <a:rPr lang="en-IN" sz="1600" dirty="0">
                <a:latin typeface="Times New Roman"/>
                <a:cs typeface="Times New Roman"/>
              </a:rPr>
              <a:t>Basic QR attendance applications </a:t>
            </a:r>
          </a:p>
          <a:p>
            <a:pPr marL="114300" indent="0" algn="just">
              <a:lnSpc>
                <a:spcPct val="150000"/>
              </a:lnSpc>
              <a:buNone/>
            </a:pPr>
            <a:r>
              <a:rPr lang="en-IN" sz="1600" b="1" dirty="0">
                <a:latin typeface="Times New Roman"/>
                <a:cs typeface="Times New Roman"/>
              </a:rPr>
              <a:t>Drawbacks</a:t>
            </a:r>
          </a:p>
          <a:p>
            <a:pPr algn="just">
              <a:lnSpc>
                <a:spcPct val="150000"/>
              </a:lnSpc>
            </a:pPr>
            <a:r>
              <a:rPr lang="en-IN" sz="1600" dirty="0">
                <a:latin typeface="Times New Roman"/>
                <a:cs typeface="Times New Roman"/>
              </a:rPr>
              <a:t>Proxy attendance </a:t>
            </a:r>
          </a:p>
          <a:p>
            <a:pPr algn="just">
              <a:lnSpc>
                <a:spcPct val="150000"/>
              </a:lnSpc>
            </a:pPr>
            <a:r>
              <a:rPr lang="en-IN" sz="1600" dirty="0">
                <a:latin typeface="Times New Roman"/>
                <a:cs typeface="Times New Roman"/>
              </a:rPr>
              <a:t>Manual errors </a:t>
            </a:r>
          </a:p>
          <a:p>
            <a:pPr algn="just">
              <a:lnSpc>
                <a:spcPct val="150000"/>
              </a:lnSpc>
            </a:pPr>
            <a:r>
              <a:rPr lang="en-IN" sz="1600" dirty="0">
                <a:latin typeface="Times New Roman"/>
                <a:cs typeface="Times New Roman"/>
              </a:rPr>
              <a:t>Time-consuming process </a:t>
            </a:r>
          </a:p>
          <a:p>
            <a:pPr algn="just">
              <a:lnSpc>
                <a:spcPct val="150000"/>
              </a:lnSpc>
            </a:pPr>
            <a:r>
              <a:rPr lang="en-IN" sz="1600" dirty="0">
                <a:latin typeface="Times New Roman"/>
                <a:cs typeface="Times New Roman"/>
              </a:rPr>
              <a:t>Lack of real-time monitoring </a:t>
            </a:r>
          </a:p>
          <a:p>
            <a:pPr algn="just">
              <a:lnSpc>
                <a:spcPct val="150000"/>
              </a:lnSpc>
            </a:pPr>
            <a:r>
              <a:rPr lang="en-IN" sz="1600" dirty="0">
                <a:latin typeface="Times New Roman"/>
                <a:cs typeface="Times New Roman"/>
              </a:rPr>
              <a:t>Limited attendance analytics </a:t>
            </a:r>
          </a:p>
          <a:p>
            <a:pPr algn="just">
              <a:lnSpc>
                <a:spcPct val="150000"/>
              </a:lnSpc>
            </a:pPr>
            <a:r>
              <a:rPr lang="en-IN" sz="1600" dirty="0">
                <a:latin typeface="Times New Roman"/>
                <a:cs typeface="Times New Roman"/>
              </a:rPr>
              <a:t>No multi-layer validation</a:t>
            </a:r>
          </a:p>
          <a:p>
            <a:pPr marL="114300" indent="0" algn="just">
              <a:lnSpc>
                <a:spcPct val="150000"/>
              </a:lnSpc>
              <a:buNone/>
            </a:pPr>
            <a:endParaRPr lang="en-IN" sz="2400" dirty="0">
              <a:latin typeface="Times New Roman"/>
              <a:cs typeface="Times New Roman"/>
            </a:endParaRPr>
          </a:p>
        </p:txBody>
      </p:sp>
      <p:pic>
        <p:nvPicPr>
          <p:cNvPr id="4" name="Picture 3" descr="Admity School &amp; College RFID Card Access Bio-metric System, For Attendance  at best price in Kolkata">
            <a:extLst>
              <a:ext uri="{FF2B5EF4-FFF2-40B4-BE49-F238E27FC236}">
                <a16:creationId xmlns:a16="http://schemas.microsoft.com/office/drawing/2014/main" id="{FCC18C7C-26E9-990E-EAF1-35BF8F28206F}"/>
              </a:ext>
            </a:extLst>
          </p:cNvPr>
          <p:cNvPicPr>
            <a:picLocks noChangeAspect="1"/>
          </p:cNvPicPr>
          <p:nvPr/>
        </p:nvPicPr>
        <p:blipFill>
          <a:blip r:embed="rId2"/>
          <a:stretch>
            <a:fillRect/>
          </a:stretch>
        </p:blipFill>
        <p:spPr>
          <a:xfrm>
            <a:off x="9438791" y="1972164"/>
            <a:ext cx="2434416" cy="1621321"/>
          </a:xfrm>
          <a:prstGeom prst="rect">
            <a:avLst/>
          </a:prstGeom>
        </p:spPr>
      </p:pic>
      <p:pic>
        <p:nvPicPr>
          <p:cNvPr id="5" name="Picture 4" descr="How to choose best attendance management system">
            <a:extLst>
              <a:ext uri="{FF2B5EF4-FFF2-40B4-BE49-F238E27FC236}">
                <a16:creationId xmlns:a16="http://schemas.microsoft.com/office/drawing/2014/main" id="{5EED3F21-1E52-9936-8615-03B4FC80903E}"/>
              </a:ext>
            </a:extLst>
          </p:cNvPr>
          <p:cNvPicPr>
            <a:picLocks noChangeAspect="1"/>
          </p:cNvPicPr>
          <p:nvPr/>
        </p:nvPicPr>
        <p:blipFill>
          <a:blip r:embed="rId3"/>
          <a:stretch>
            <a:fillRect/>
          </a:stretch>
        </p:blipFill>
        <p:spPr>
          <a:xfrm>
            <a:off x="5309242" y="1831849"/>
            <a:ext cx="3657600" cy="1901952"/>
          </a:xfrm>
          <a:prstGeom prst="rect">
            <a:avLst/>
          </a:prstGeom>
        </p:spPr>
      </p:pic>
      <p:pic>
        <p:nvPicPr>
          <p:cNvPr id="7" name="Picture 6">
            <a:extLst>
              <a:ext uri="{FF2B5EF4-FFF2-40B4-BE49-F238E27FC236}">
                <a16:creationId xmlns:a16="http://schemas.microsoft.com/office/drawing/2014/main" id="{E33B65AF-27D8-814C-E94E-12B916A52AFE}"/>
              </a:ext>
            </a:extLst>
          </p:cNvPr>
          <p:cNvPicPr>
            <a:picLocks noChangeAspect="1"/>
          </p:cNvPicPr>
          <p:nvPr/>
        </p:nvPicPr>
        <p:blipFill>
          <a:blip r:embed="rId4"/>
          <a:stretch>
            <a:fillRect/>
          </a:stretch>
        </p:blipFill>
        <p:spPr>
          <a:xfrm>
            <a:off x="5309242" y="4301582"/>
            <a:ext cx="2434416" cy="1483472"/>
          </a:xfrm>
          <a:prstGeom prst="rect">
            <a:avLst/>
          </a:prstGeom>
        </p:spPr>
      </p:pic>
      <p:pic>
        <p:nvPicPr>
          <p:cNvPr id="9" name="Picture 8">
            <a:extLst>
              <a:ext uri="{FF2B5EF4-FFF2-40B4-BE49-F238E27FC236}">
                <a16:creationId xmlns:a16="http://schemas.microsoft.com/office/drawing/2014/main" id="{B7FA23A4-2686-8AD8-B60A-C28DC11E48DE}"/>
              </a:ext>
            </a:extLst>
          </p:cNvPr>
          <p:cNvPicPr>
            <a:picLocks noChangeAspect="1"/>
          </p:cNvPicPr>
          <p:nvPr/>
        </p:nvPicPr>
        <p:blipFill>
          <a:blip r:embed="rId5"/>
          <a:srcRect t="3433" r="7446"/>
          <a:stretch>
            <a:fillRect/>
          </a:stretch>
        </p:blipFill>
        <p:spPr>
          <a:xfrm>
            <a:off x="8294822" y="4363730"/>
            <a:ext cx="3578385" cy="2219632"/>
          </a:xfrm>
          <a:prstGeom prst="rect">
            <a:avLst/>
          </a:prstGeom>
        </p:spPr>
      </p:pic>
    </p:spTree>
    <p:extLst>
      <p:ext uri="{BB962C8B-B14F-4D97-AF65-F5344CB8AC3E}">
        <p14:creationId xmlns:p14="http://schemas.microsoft.com/office/powerpoint/2010/main" val="2689739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12264-64B2-0303-8519-A78CDC359B31}"/>
              </a:ext>
            </a:extLst>
          </p:cNvPr>
          <p:cNvSpPr>
            <a:spLocks noGrp="1"/>
          </p:cNvSpPr>
          <p:nvPr>
            <p:ph type="title"/>
          </p:nvPr>
        </p:nvSpPr>
        <p:spPr/>
        <p:txBody>
          <a:bodyPr/>
          <a:lstStyle/>
          <a:p>
            <a:r>
              <a:rPr lang="en-IN" sz="3600" b="1" dirty="0">
                <a:latin typeface="Times New Roman"/>
                <a:cs typeface="Times New Roman"/>
              </a:rPr>
              <a:t>EXISTING SYSTEM </a:t>
            </a:r>
            <a:r>
              <a:rPr lang="en-IN" b="1" dirty="0">
                <a:latin typeface="Times New Roman"/>
                <a:cs typeface="Times New Roman"/>
              </a:rPr>
              <a:t>- </a:t>
            </a:r>
            <a:r>
              <a:rPr lang="en-IN" sz="2800" b="1" dirty="0">
                <a:latin typeface="Times New Roman"/>
                <a:cs typeface="Times New Roman"/>
              </a:rPr>
              <a:t>ARCHITECTURE</a:t>
            </a:r>
            <a:endParaRPr lang="en-IN" dirty="0"/>
          </a:p>
        </p:txBody>
      </p:sp>
      <p:pic>
        <p:nvPicPr>
          <p:cNvPr id="4" name="Picture 3">
            <a:extLst>
              <a:ext uri="{FF2B5EF4-FFF2-40B4-BE49-F238E27FC236}">
                <a16:creationId xmlns:a16="http://schemas.microsoft.com/office/drawing/2014/main" id="{FC397F1A-AC7D-128C-92B3-43C0DAED7AA6}"/>
              </a:ext>
            </a:extLst>
          </p:cNvPr>
          <p:cNvPicPr>
            <a:picLocks noChangeAspect="1"/>
          </p:cNvPicPr>
          <p:nvPr/>
        </p:nvPicPr>
        <p:blipFill>
          <a:blip r:embed="rId2"/>
          <a:stretch>
            <a:fillRect/>
          </a:stretch>
        </p:blipFill>
        <p:spPr>
          <a:xfrm>
            <a:off x="1381926" y="1417638"/>
            <a:ext cx="2781541" cy="5159187"/>
          </a:xfrm>
          <a:prstGeom prst="rect">
            <a:avLst/>
          </a:prstGeom>
        </p:spPr>
      </p:pic>
      <p:sp>
        <p:nvSpPr>
          <p:cNvPr id="5" name="TextBox 4">
            <a:extLst>
              <a:ext uri="{FF2B5EF4-FFF2-40B4-BE49-F238E27FC236}">
                <a16:creationId xmlns:a16="http://schemas.microsoft.com/office/drawing/2014/main" id="{2BF4A4B4-50C2-5DE6-DFA3-837DE8E6B59D}"/>
              </a:ext>
            </a:extLst>
          </p:cNvPr>
          <p:cNvSpPr txBox="1"/>
          <p:nvPr/>
        </p:nvSpPr>
        <p:spPr>
          <a:xfrm>
            <a:off x="5506065" y="1417638"/>
            <a:ext cx="5938683" cy="4849404"/>
          </a:xfrm>
          <a:prstGeom prst="rect">
            <a:avLst/>
          </a:prstGeom>
          <a:noFill/>
        </p:spPr>
        <p:txBody>
          <a:bodyPr wrap="square" rtlCol="0">
            <a:spAutoFit/>
          </a:bodyPr>
          <a:lstStyle/>
          <a:p>
            <a:pPr algn="just">
              <a:lnSpc>
                <a:spcPct val="150000"/>
              </a:lnSpc>
            </a:pPr>
            <a:r>
              <a:rPr lang="en-IN" sz="1600" b="1" dirty="0">
                <a:latin typeface="Times New Roman" panose="02020603050405020304" pitchFamily="18" charset="0"/>
                <a:cs typeface="Times New Roman" panose="02020603050405020304" pitchFamily="18" charset="0"/>
              </a:rPr>
              <a:t>Existing System – QR Code Based Attendance System</a:t>
            </a:r>
          </a:p>
          <a:p>
            <a:pPr algn="just">
              <a:lnSpc>
                <a:spcPct val="150000"/>
              </a:lnSpc>
            </a:pPr>
            <a:r>
              <a:rPr lang="en-IN" sz="1600" dirty="0">
                <a:latin typeface="Times New Roman" panose="02020603050405020304" pitchFamily="18" charset="0"/>
                <a:cs typeface="Times New Roman" panose="02020603050405020304" pitchFamily="18" charset="0"/>
              </a:rPr>
              <a:t>This research paper proposes a smartphone-based attendance system that uses QR codes for automated attendance recording. Students scan a QR code displayed by the instructor, and the system verifies attendance using facial recognition and location validation. The approach reduces manual attendance time, improves efficiency, and helps prevent proxy attendance in educational institutions.</a:t>
            </a:r>
          </a:p>
          <a:p>
            <a:pPr algn="just">
              <a:lnSpc>
                <a:spcPct val="150000"/>
              </a:lnSpc>
            </a:pP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b="1" dirty="0">
                <a:latin typeface="Times New Roman" panose="02020603050405020304" pitchFamily="18" charset="0"/>
                <a:cs typeface="Times New Roman" panose="02020603050405020304" pitchFamily="18" charset="0"/>
              </a:rPr>
              <a:t>Reference: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F. Masalha and N. </a:t>
            </a:r>
            <a:r>
              <a:rPr lang="en-IN" sz="1600" dirty="0" err="1">
                <a:latin typeface="Times New Roman" panose="02020603050405020304" pitchFamily="18" charset="0"/>
                <a:cs typeface="Times New Roman" panose="02020603050405020304" pitchFamily="18" charset="0"/>
              </a:rPr>
              <a:t>Hirzallah</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"A Students Attendance System Using QR Code,"</a:t>
            </a:r>
            <a:r>
              <a:rPr lang="en-IN" sz="1600" dirty="0">
                <a:latin typeface="Times New Roman" panose="02020603050405020304" pitchFamily="18" charset="0"/>
                <a:cs typeface="Times New Roman" panose="02020603050405020304" pitchFamily="18" charset="0"/>
              </a:rPr>
              <a:t> International Journal of Advanced Computer Science and Applications (IJACSA), Vol. 5, No. 3, 2014.</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0531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3"/>
          <p:cNvSpPr txBox="1">
            <a:spLocks noGrp="1"/>
          </p:cNvSpPr>
          <p:nvPr>
            <p:ph type="title"/>
          </p:nvPr>
        </p:nvSpPr>
        <p:spPr>
          <a:xfrm>
            <a:off x="1408253" y="251489"/>
            <a:ext cx="10972800" cy="90777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Times New Roman"/>
              <a:buNone/>
            </a:pPr>
            <a:r>
              <a:rPr lang="en-IN" sz="3600" dirty="0">
                <a:latin typeface="Times New Roman"/>
                <a:ea typeface="Times New Roman"/>
                <a:cs typeface="Times New Roman"/>
                <a:sym typeface="Times New Roman"/>
              </a:rPr>
              <a:t>                  </a:t>
            </a:r>
            <a:r>
              <a:rPr lang="en-IN" sz="3600" b="1" dirty="0">
                <a:latin typeface="Times New Roman"/>
                <a:ea typeface="Times New Roman"/>
                <a:cs typeface="Times New Roman"/>
                <a:sym typeface="Times New Roman"/>
              </a:rPr>
              <a:t>PROPOSED SYSTEM</a:t>
            </a:r>
            <a:endParaRPr sz="3600" b="1" dirty="0"/>
          </a:p>
        </p:txBody>
      </p:sp>
      <p:sp>
        <p:nvSpPr>
          <p:cNvPr id="162" name="Google Shape;162;p13"/>
          <p:cNvSpPr txBox="1">
            <a:spLocks noGrp="1"/>
          </p:cNvSpPr>
          <p:nvPr>
            <p:ph type="body" idx="1"/>
          </p:nvPr>
        </p:nvSpPr>
        <p:spPr>
          <a:xfrm>
            <a:off x="1158240" y="1290320"/>
            <a:ext cx="10972800" cy="3438996"/>
          </a:xfrm>
          <a:prstGeom prst="rect">
            <a:avLst/>
          </a:prstGeom>
          <a:noFill/>
          <a:ln>
            <a:noFill/>
          </a:ln>
        </p:spPr>
        <p:txBody>
          <a:bodyPr spcFirstLastPara="1" wrap="square" lIns="91425" tIns="45700" rIns="91425" bIns="45700" anchor="t" anchorCtr="0">
            <a:noAutofit/>
          </a:bodyPr>
          <a:lstStyle/>
          <a:p>
            <a:pPr marL="114300" indent="0" algn="just">
              <a:lnSpc>
                <a:spcPct val="150000"/>
              </a:lnSpc>
              <a:buNone/>
            </a:pPr>
            <a:r>
              <a:rPr lang="en-IN" sz="1600" dirty="0">
                <a:latin typeface="Times New Roman"/>
                <a:cs typeface="Times New Roman"/>
              </a:rPr>
              <a:t>The proposed Smart Adaptive Attendance Intelligence System combines multiple verification mechanisms:</a:t>
            </a:r>
          </a:p>
          <a:p>
            <a:pPr marL="114300" indent="0" algn="just">
              <a:lnSpc>
                <a:spcPct val="150000"/>
              </a:lnSpc>
              <a:buNone/>
            </a:pPr>
            <a:r>
              <a:rPr lang="en-IN" sz="1800" b="1" dirty="0">
                <a:latin typeface="Times New Roman"/>
                <a:cs typeface="Times New Roman"/>
              </a:rPr>
              <a:t>Features</a:t>
            </a:r>
          </a:p>
          <a:p>
            <a:pPr algn="just">
              <a:lnSpc>
                <a:spcPct val="150000"/>
              </a:lnSpc>
            </a:pPr>
            <a:r>
              <a:rPr lang="en-IN" sz="1600" dirty="0">
                <a:latin typeface="Times New Roman"/>
                <a:cs typeface="Times New Roman"/>
              </a:rPr>
              <a:t>Dynamic QR Code Verification </a:t>
            </a:r>
          </a:p>
          <a:p>
            <a:pPr algn="just">
              <a:lnSpc>
                <a:spcPct val="150000"/>
              </a:lnSpc>
            </a:pPr>
            <a:r>
              <a:rPr lang="en-IN" sz="1600" dirty="0">
                <a:latin typeface="Times New Roman"/>
                <a:cs typeface="Times New Roman"/>
              </a:rPr>
              <a:t>GPS Location Validation </a:t>
            </a:r>
          </a:p>
          <a:p>
            <a:pPr algn="just">
              <a:lnSpc>
                <a:spcPct val="150000"/>
              </a:lnSpc>
            </a:pPr>
            <a:r>
              <a:rPr lang="en-IN" sz="1600" dirty="0">
                <a:latin typeface="Times New Roman"/>
                <a:cs typeface="Times New Roman"/>
              </a:rPr>
              <a:t>Wi-Fi BSSID Verification </a:t>
            </a:r>
          </a:p>
          <a:p>
            <a:pPr algn="just">
              <a:lnSpc>
                <a:spcPct val="150000"/>
              </a:lnSpc>
            </a:pPr>
            <a:r>
              <a:rPr lang="en-IN" sz="1600" dirty="0">
                <a:latin typeface="Times New Roman"/>
                <a:cs typeface="Times New Roman"/>
              </a:rPr>
              <a:t>Device Binding Authentication </a:t>
            </a:r>
          </a:p>
          <a:p>
            <a:pPr algn="just">
              <a:lnSpc>
                <a:spcPct val="150000"/>
              </a:lnSpc>
            </a:pPr>
            <a:r>
              <a:rPr lang="en-IN" sz="1600" dirty="0">
                <a:latin typeface="Times New Roman"/>
                <a:cs typeface="Times New Roman"/>
              </a:rPr>
              <a:t>Context Capture (Photo/Video) </a:t>
            </a:r>
          </a:p>
          <a:p>
            <a:pPr algn="just">
              <a:lnSpc>
                <a:spcPct val="150000"/>
              </a:lnSpc>
            </a:pPr>
            <a:r>
              <a:rPr lang="en-IN" sz="1600" dirty="0">
                <a:latin typeface="Times New Roman"/>
                <a:cs typeface="Times New Roman"/>
              </a:rPr>
              <a:t>Confidence Score Calculation </a:t>
            </a:r>
          </a:p>
          <a:p>
            <a:pPr algn="just">
              <a:lnSpc>
                <a:spcPct val="150000"/>
              </a:lnSpc>
            </a:pPr>
            <a:r>
              <a:rPr lang="en-IN" sz="1600" dirty="0">
                <a:latin typeface="Times New Roman"/>
                <a:cs typeface="Times New Roman"/>
              </a:rPr>
              <a:t>Faculty Dashboard </a:t>
            </a:r>
          </a:p>
          <a:p>
            <a:pPr algn="just">
              <a:lnSpc>
                <a:spcPct val="150000"/>
              </a:lnSpc>
            </a:pPr>
            <a:r>
              <a:rPr lang="en-IN" sz="1600" dirty="0">
                <a:latin typeface="Times New Roman"/>
                <a:cs typeface="Times New Roman"/>
              </a:rPr>
              <a:t>Attendance Analytics Engine </a:t>
            </a:r>
          </a:p>
          <a:p>
            <a:pPr marL="114300" indent="0" algn="just">
              <a:lnSpc>
                <a:spcPct val="150000"/>
              </a:lnSpc>
              <a:buNone/>
            </a:pPr>
            <a:r>
              <a:rPr lang="en-IN" sz="1600" dirty="0">
                <a:latin typeface="Times New Roman"/>
                <a:cs typeface="Times New Roman"/>
              </a:rPr>
              <a:t>This integrated approach ensures secure and reliable attendance recording</a:t>
            </a:r>
          </a:p>
          <a:p>
            <a:pPr marL="342900" lvl="0" indent="-241300" algn="just">
              <a:lnSpc>
                <a:spcPct val="150000"/>
              </a:lnSpc>
              <a:spcBef>
                <a:spcPts val="320"/>
              </a:spcBef>
              <a:buSzPts val="1600"/>
              <a:buNone/>
            </a:pPr>
            <a:endParaRPr sz="1600" dirty="0">
              <a:highlight>
                <a:srgbClr val="FFFF00"/>
              </a:highlight>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5"/>
          <p:cNvSpPr txBox="1"/>
          <p:nvPr/>
        </p:nvSpPr>
        <p:spPr>
          <a:xfrm>
            <a:off x="3409949" y="88900"/>
            <a:ext cx="4796700" cy="92328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IN" sz="3600" b="1" dirty="0">
                <a:solidFill>
                  <a:schemeClr val="dk1"/>
                </a:solidFill>
                <a:latin typeface="Times New Roman"/>
                <a:ea typeface="Times New Roman"/>
                <a:cs typeface="Times New Roman"/>
                <a:sym typeface="Times New Roman"/>
              </a:rPr>
              <a:t>ARCHITECTURE</a:t>
            </a:r>
            <a:endParaRPr sz="3600" b="1" dirty="0"/>
          </a:p>
        </p:txBody>
      </p:sp>
      <p:pic>
        <p:nvPicPr>
          <p:cNvPr id="5" name="Picture 4">
            <a:extLst>
              <a:ext uri="{FF2B5EF4-FFF2-40B4-BE49-F238E27FC236}">
                <a16:creationId xmlns:a16="http://schemas.microsoft.com/office/drawing/2014/main" id="{86515B0C-26A9-B02F-CCFE-FB1317A75EA6}"/>
              </a:ext>
            </a:extLst>
          </p:cNvPr>
          <p:cNvPicPr>
            <a:picLocks noChangeAspect="1"/>
          </p:cNvPicPr>
          <p:nvPr/>
        </p:nvPicPr>
        <p:blipFill>
          <a:blip r:embed="rId3"/>
          <a:stretch>
            <a:fillRect/>
          </a:stretch>
        </p:blipFill>
        <p:spPr>
          <a:xfrm>
            <a:off x="-194734" y="-1"/>
            <a:ext cx="12488333" cy="704426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6"/>
          <p:cNvSpPr txBox="1"/>
          <p:nvPr/>
        </p:nvSpPr>
        <p:spPr>
          <a:xfrm>
            <a:off x="890552" y="351830"/>
            <a:ext cx="9895981"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D0D0D"/>
              </a:buClr>
              <a:buSzPts val="1600"/>
              <a:buFont typeface="Times New Roman"/>
              <a:buNone/>
            </a:pPr>
            <a:r>
              <a:rPr lang="en-US" sz="3600" b="1" dirty="0">
                <a:solidFill>
                  <a:srgbClr val="0D0D0D"/>
                </a:solidFill>
                <a:latin typeface="Times New Roman"/>
                <a:ea typeface="Times New Roman"/>
                <a:cs typeface="Times New Roman"/>
                <a:sym typeface="Times New Roman"/>
              </a:rPr>
              <a:t>Working Methodology</a:t>
            </a:r>
          </a:p>
        </p:txBody>
      </p:sp>
      <p:pic>
        <p:nvPicPr>
          <p:cNvPr id="3" name="Picture 2">
            <a:extLst>
              <a:ext uri="{FF2B5EF4-FFF2-40B4-BE49-F238E27FC236}">
                <a16:creationId xmlns:a16="http://schemas.microsoft.com/office/drawing/2014/main" id="{B78FB1A6-FD3F-2B83-E53C-B9AB3F28BD5C}"/>
              </a:ext>
            </a:extLst>
          </p:cNvPr>
          <p:cNvPicPr>
            <a:picLocks noChangeAspect="1"/>
          </p:cNvPicPr>
          <p:nvPr/>
        </p:nvPicPr>
        <p:blipFill>
          <a:blip r:embed="rId3"/>
          <a:stretch>
            <a:fillRect/>
          </a:stretch>
        </p:blipFill>
        <p:spPr>
          <a:xfrm>
            <a:off x="719667" y="1371599"/>
            <a:ext cx="10701866" cy="52747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C73E4-C1C6-AD46-605C-40D60CF898F2}"/>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Security Layers</a:t>
            </a:r>
          </a:p>
        </p:txBody>
      </p:sp>
      <p:sp>
        <p:nvSpPr>
          <p:cNvPr id="3" name="Text Placeholder 2">
            <a:extLst>
              <a:ext uri="{FF2B5EF4-FFF2-40B4-BE49-F238E27FC236}">
                <a16:creationId xmlns:a16="http://schemas.microsoft.com/office/drawing/2014/main" id="{7BEA72BC-4F57-965B-5D07-02552374710F}"/>
              </a:ext>
            </a:extLst>
          </p:cNvPr>
          <p:cNvSpPr>
            <a:spLocks noGrp="1"/>
          </p:cNvSpPr>
          <p:nvPr>
            <p:ph type="body" idx="1"/>
          </p:nvPr>
        </p:nvSpPr>
        <p:spPr>
          <a:xfrm>
            <a:off x="609600" y="1267618"/>
            <a:ext cx="4114800" cy="4525963"/>
          </a:xfrm>
        </p:spPr>
        <p:txBody>
          <a:bodyPr>
            <a:noAutofit/>
          </a:bodyPr>
          <a:lstStyle/>
          <a:p>
            <a:pPr marL="114300" indent="0" algn="just">
              <a:lnSpc>
                <a:spcPct val="150000"/>
              </a:lnSpc>
              <a:buNone/>
            </a:pPr>
            <a:r>
              <a:rPr lang="en-IN" sz="1600" b="1" dirty="0">
                <a:latin typeface="Times New Roman" panose="02020603050405020304" pitchFamily="18" charset="0"/>
                <a:cs typeface="Times New Roman" panose="02020603050405020304" pitchFamily="18" charset="0"/>
              </a:rPr>
              <a:t>Authentication Layer</a:t>
            </a:r>
          </a:p>
          <a:p>
            <a:pPr algn="just">
              <a:lnSpc>
                <a:spcPct val="150000"/>
              </a:lnSpc>
            </a:pPr>
            <a:r>
              <a:rPr lang="en-IN" sz="1600" dirty="0">
                <a:latin typeface="Times New Roman" panose="02020603050405020304" pitchFamily="18" charset="0"/>
                <a:cs typeface="Times New Roman" panose="02020603050405020304" pitchFamily="18" charset="0"/>
              </a:rPr>
              <a:t>Dynamic QR Tokens </a:t>
            </a:r>
          </a:p>
          <a:p>
            <a:pPr algn="just">
              <a:lnSpc>
                <a:spcPct val="150000"/>
              </a:lnSpc>
            </a:pPr>
            <a:r>
              <a:rPr lang="en-IN" sz="1600" dirty="0">
                <a:latin typeface="Times New Roman" panose="02020603050405020304" pitchFamily="18" charset="0"/>
                <a:cs typeface="Times New Roman" panose="02020603050405020304" pitchFamily="18" charset="0"/>
              </a:rPr>
              <a:t>Session Time Window </a:t>
            </a:r>
          </a:p>
          <a:p>
            <a:pPr algn="just">
              <a:lnSpc>
                <a:spcPct val="150000"/>
              </a:lnSpc>
            </a:pPr>
            <a:r>
              <a:rPr lang="en-IN" sz="1600" dirty="0">
                <a:latin typeface="Times New Roman" panose="02020603050405020304" pitchFamily="18" charset="0"/>
                <a:cs typeface="Times New Roman" panose="02020603050405020304" pitchFamily="18" charset="0"/>
              </a:rPr>
              <a:t>Device Binding </a:t>
            </a:r>
          </a:p>
          <a:p>
            <a:pPr marL="114300" indent="0" algn="just">
              <a:lnSpc>
                <a:spcPct val="150000"/>
              </a:lnSpc>
              <a:buNone/>
            </a:pPr>
            <a:r>
              <a:rPr lang="en-IN" sz="1600" b="1" dirty="0">
                <a:latin typeface="Times New Roman" panose="02020603050405020304" pitchFamily="18" charset="0"/>
                <a:cs typeface="Times New Roman" panose="02020603050405020304" pitchFamily="18" charset="0"/>
              </a:rPr>
              <a:t>Presence Verification Layer</a:t>
            </a:r>
          </a:p>
          <a:p>
            <a:pPr algn="just">
              <a:lnSpc>
                <a:spcPct val="150000"/>
              </a:lnSpc>
            </a:pPr>
            <a:r>
              <a:rPr lang="en-IN" sz="1600" dirty="0">
                <a:latin typeface="Times New Roman" panose="02020603050405020304" pitchFamily="18" charset="0"/>
                <a:cs typeface="Times New Roman" panose="02020603050405020304" pitchFamily="18" charset="0"/>
              </a:rPr>
              <a:t>GPS Validation </a:t>
            </a:r>
          </a:p>
          <a:p>
            <a:pPr algn="just">
              <a:lnSpc>
                <a:spcPct val="150000"/>
              </a:lnSpc>
            </a:pPr>
            <a:r>
              <a:rPr lang="en-IN" sz="1600" dirty="0">
                <a:latin typeface="Times New Roman" panose="02020603050405020304" pitchFamily="18" charset="0"/>
                <a:cs typeface="Times New Roman" panose="02020603050405020304" pitchFamily="18" charset="0"/>
              </a:rPr>
              <a:t>Wi-Fi Validation </a:t>
            </a:r>
          </a:p>
          <a:p>
            <a:pPr algn="just">
              <a:lnSpc>
                <a:spcPct val="150000"/>
              </a:lnSpc>
            </a:pPr>
            <a:r>
              <a:rPr lang="en-IN" sz="1600" dirty="0">
                <a:latin typeface="Times New Roman" panose="02020603050405020304" pitchFamily="18" charset="0"/>
                <a:cs typeface="Times New Roman" panose="02020603050405020304" pitchFamily="18" charset="0"/>
              </a:rPr>
              <a:t>Context Capture </a:t>
            </a:r>
          </a:p>
          <a:p>
            <a:pPr marL="114300" indent="0" algn="just">
              <a:lnSpc>
                <a:spcPct val="150000"/>
              </a:lnSpc>
              <a:buNone/>
            </a:pPr>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1F0C04C-5B46-0092-06F1-0BD9DA20A400}"/>
              </a:ext>
            </a:extLst>
          </p:cNvPr>
          <p:cNvSpPr txBox="1"/>
          <p:nvPr/>
        </p:nvSpPr>
        <p:spPr>
          <a:xfrm>
            <a:off x="5359402" y="1417638"/>
            <a:ext cx="4216400" cy="2262671"/>
          </a:xfrm>
          <a:prstGeom prst="rect">
            <a:avLst/>
          </a:prstGeom>
          <a:noFill/>
        </p:spPr>
        <p:txBody>
          <a:bodyPr wrap="square" rtlCol="0">
            <a:spAutoFit/>
          </a:bodyPr>
          <a:lstStyle/>
          <a:p>
            <a:pPr marL="114300" indent="0" algn="just">
              <a:lnSpc>
                <a:spcPct val="150000"/>
              </a:lnSpc>
              <a:buNone/>
            </a:pPr>
            <a:r>
              <a:rPr lang="en-IN" sz="1600" b="1" dirty="0">
                <a:latin typeface="Times New Roman" panose="02020603050405020304" pitchFamily="18" charset="0"/>
                <a:cs typeface="Times New Roman" panose="02020603050405020304" pitchFamily="18" charset="0"/>
              </a:rPr>
              <a:t>Intelligence Layer</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Confidence Score </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Risk Detection </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Duplicate Detection </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Attendance Pattern Analysis</a:t>
            </a:r>
          </a:p>
          <a:p>
            <a:pPr algn="just">
              <a:lnSpc>
                <a:spcPct val="150000"/>
              </a:lnSpc>
            </a:pPr>
            <a:endParaRPr lang="en-IN" sz="1600" dirty="0"/>
          </a:p>
        </p:txBody>
      </p:sp>
    </p:spTree>
    <p:extLst>
      <p:ext uri="{BB962C8B-B14F-4D97-AF65-F5344CB8AC3E}">
        <p14:creationId xmlns:p14="http://schemas.microsoft.com/office/powerpoint/2010/main" val="4511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38A0A-9B6B-CCA3-B93A-C548659A1497}"/>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Implementation</a:t>
            </a:r>
          </a:p>
        </p:txBody>
      </p:sp>
      <p:sp>
        <p:nvSpPr>
          <p:cNvPr id="3" name="Text Placeholder 2">
            <a:extLst>
              <a:ext uri="{FF2B5EF4-FFF2-40B4-BE49-F238E27FC236}">
                <a16:creationId xmlns:a16="http://schemas.microsoft.com/office/drawing/2014/main" id="{36D54CFF-E3CB-7C19-E1CE-905D8516791E}"/>
              </a:ext>
            </a:extLst>
          </p:cNvPr>
          <p:cNvSpPr>
            <a:spLocks noGrp="1"/>
          </p:cNvSpPr>
          <p:nvPr>
            <p:ph type="body" idx="1"/>
          </p:nvPr>
        </p:nvSpPr>
        <p:spPr/>
        <p:txBody>
          <a:bodyPr>
            <a:normAutofit/>
          </a:bodyPr>
          <a:lstStyle/>
          <a:p>
            <a:pPr marL="50800" indent="0">
              <a:lnSpc>
                <a:spcPct val="150000"/>
              </a:lnSpc>
              <a:buNone/>
            </a:pPr>
            <a:r>
              <a:rPr lang="en-IN" sz="1600" b="1" dirty="0">
                <a:latin typeface="Times New Roman" panose="02020603050405020304" pitchFamily="18" charset="0"/>
                <a:cs typeface="Times New Roman" panose="02020603050405020304" pitchFamily="18" charset="0"/>
              </a:rPr>
              <a:t>Frontend</a:t>
            </a:r>
          </a:p>
          <a:p>
            <a:pPr>
              <a:lnSpc>
                <a:spcPct val="150000"/>
              </a:lnSpc>
            </a:pPr>
            <a:r>
              <a:rPr lang="en-IN" sz="1600" dirty="0">
                <a:latin typeface="Times New Roman" panose="02020603050405020304" pitchFamily="18" charset="0"/>
                <a:cs typeface="Times New Roman" panose="02020603050405020304" pitchFamily="18" charset="0"/>
              </a:rPr>
              <a:t>React Native </a:t>
            </a:r>
          </a:p>
          <a:p>
            <a:pPr>
              <a:lnSpc>
                <a:spcPct val="150000"/>
              </a:lnSpc>
            </a:pPr>
            <a:r>
              <a:rPr lang="en-IN" sz="1600" dirty="0">
                <a:latin typeface="Times New Roman" panose="02020603050405020304" pitchFamily="18" charset="0"/>
                <a:cs typeface="Times New Roman" panose="02020603050405020304" pitchFamily="18" charset="0"/>
              </a:rPr>
              <a:t>Expo </a:t>
            </a:r>
          </a:p>
          <a:p>
            <a:pPr marL="50800" indent="0">
              <a:lnSpc>
                <a:spcPct val="150000"/>
              </a:lnSpc>
              <a:buNone/>
            </a:pPr>
            <a:r>
              <a:rPr lang="en-IN" sz="1600" b="1" dirty="0">
                <a:latin typeface="Times New Roman" panose="02020603050405020304" pitchFamily="18" charset="0"/>
                <a:cs typeface="Times New Roman" panose="02020603050405020304" pitchFamily="18" charset="0"/>
              </a:rPr>
              <a:t>Backend</a:t>
            </a:r>
          </a:p>
          <a:p>
            <a:pPr>
              <a:lnSpc>
                <a:spcPct val="150000"/>
              </a:lnSpc>
            </a:pPr>
            <a:r>
              <a:rPr lang="en-IN" sz="1600" dirty="0" err="1">
                <a:latin typeface="Times New Roman" panose="02020603050405020304" pitchFamily="18" charset="0"/>
                <a:cs typeface="Times New Roman" panose="02020603050405020304" pitchFamily="18" charset="0"/>
              </a:rPr>
              <a:t>FastAPI</a:t>
            </a:r>
            <a:r>
              <a:rPr lang="en-IN" sz="1600" dirty="0">
                <a:latin typeface="Times New Roman" panose="02020603050405020304" pitchFamily="18" charset="0"/>
                <a:cs typeface="Times New Roman" panose="02020603050405020304" pitchFamily="18" charset="0"/>
              </a:rPr>
              <a:t> </a:t>
            </a:r>
          </a:p>
          <a:p>
            <a:pPr marL="50800" indent="0">
              <a:lnSpc>
                <a:spcPct val="150000"/>
              </a:lnSpc>
              <a:buNone/>
            </a:pPr>
            <a:r>
              <a:rPr lang="en-IN" sz="1600" b="1" dirty="0">
                <a:latin typeface="Times New Roman" panose="02020603050405020304" pitchFamily="18" charset="0"/>
                <a:cs typeface="Times New Roman" panose="02020603050405020304" pitchFamily="18" charset="0"/>
              </a:rPr>
              <a:t>Database</a:t>
            </a:r>
          </a:p>
          <a:p>
            <a:pPr>
              <a:lnSpc>
                <a:spcPct val="150000"/>
              </a:lnSpc>
            </a:pPr>
            <a:r>
              <a:rPr lang="en-IN" sz="1600" dirty="0">
                <a:latin typeface="Times New Roman" panose="02020603050405020304" pitchFamily="18" charset="0"/>
                <a:cs typeface="Times New Roman" panose="02020603050405020304" pitchFamily="18" charset="0"/>
              </a:rPr>
              <a:t>PostgreSQL </a:t>
            </a:r>
          </a:p>
          <a:p>
            <a:pPr marL="50800" indent="0">
              <a:lnSpc>
                <a:spcPct val="150000"/>
              </a:lnSpc>
              <a:buNone/>
            </a:pPr>
            <a:endParaRPr lang="en-IN" sz="16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98CD1791-60C3-2872-AA7D-951AE4A451AD}"/>
              </a:ext>
            </a:extLst>
          </p:cNvPr>
          <p:cNvSpPr>
            <a:spLocks noGrp="1"/>
          </p:cNvSpPr>
          <p:nvPr>
            <p:ph type="body" idx="2"/>
          </p:nvPr>
        </p:nvSpPr>
        <p:spPr>
          <a:xfrm>
            <a:off x="6096000" y="1275081"/>
            <a:ext cx="5384800" cy="4525963"/>
          </a:xfrm>
        </p:spPr>
        <p:txBody>
          <a:bodyPr>
            <a:noAutofit/>
          </a:bodyPr>
          <a:lstStyle/>
          <a:p>
            <a:pPr marL="50800" indent="0">
              <a:lnSpc>
                <a:spcPct val="170000"/>
              </a:lnSpc>
              <a:buNone/>
            </a:pPr>
            <a:r>
              <a:rPr lang="en-IN" sz="1600" b="1" dirty="0">
                <a:latin typeface="Times New Roman" panose="02020603050405020304" pitchFamily="18" charset="0"/>
                <a:cs typeface="Times New Roman" panose="02020603050405020304" pitchFamily="18" charset="0"/>
              </a:rPr>
              <a:t>APIs</a:t>
            </a:r>
          </a:p>
          <a:p>
            <a:pPr>
              <a:lnSpc>
                <a:spcPct val="170000"/>
              </a:lnSpc>
            </a:pPr>
            <a:r>
              <a:rPr lang="en-IN" sz="1600" dirty="0">
                <a:latin typeface="Times New Roman" panose="02020603050405020304" pitchFamily="18" charset="0"/>
                <a:cs typeface="Times New Roman" panose="02020603050405020304" pitchFamily="18" charset="0"/>
              </a:rPr>
              <a:t>Student Login </a:t>
            </a:r>
          </a:p>
          <a:p>
            <a:pPr>
              <a:lnSpc>
                <a:spcPct val="170000"/>
              </a:lnSpc>
            </a:pPr>
            <a:r>
              <a:rPr lang="en-IN" sz="1600" dirty="0">
                <a:latin typeface="Times New Roman" panose="02020603050405020304" pitchFamily="18" charset="0"/>
                <a:cs typeface="Times New Roman" panose="02020603050405020304" pitchFamily="18" charset="0"/>
              </a:rPr>
              <a:t>Faculty Login </a:t>
            </a:r>
          </a:p>
          <a:p>
            <a:pPr>
              <a:lnSpc>
                <a:spcPct val="170000"/>
              </a:lnSpc>
            </a:pPr>
            <a:r>
              <a:rPr lang="en-IN" sz="1600" dirty="0">
                <a:latin typeface="Times New Roman" panose="02020603050405020304" pitchFamily="18" charset="0"/>
                <a:cs typeface="Times New Roman" panose="02020603050405020304" pitchFamily="18" charset="0"/>
              </a:rPr>
              <a:t>Session Management </a:t>
            </a:r>
          </a:p>
          <a:p>
            <a:pPr>
              <a:lnSpc>
                <a:spcPct val="170000"/>
              </a:lnSpc>
            </a:pPr>
            <a:r>
              <a:rPr lang="en-IN" sz="1600" dirty="0">
                <a:latin typeface="Times New Roman" panose="02020603050405020304" pitchFamily="18" charset="0"/>
                <a:cs typeface="Times New Roman" panose="02020603050405020304" pitchFamily="18" charset="0"/>
              </a:rPr>
              <a:t>QR Validation </a:t>
            </a:r>
          </a:p>
          <a:p>
            <a:pPr>
              <a:lnSpc>
                <a:spcPct val="170000"/>
              </a:lnSpc>
            </a:pPr>
            <a:r>
              <a:rPr lang="en-IN" sz="1600" dirty="0">
                <a:latin typeface="Times New Roman" panose="02020603050405020304" pitchFamily="18" charset="0"/>
                <a:cs typeface="Times New Roman" panose="02020603050405020304" pitchFamily="18" charset="0"/>
              </a:rPr>
              <a:t>Attendance Submission </a:t>
            </a:r>
          </a:p>
          <a:p>
            <a:pPr marL="50800" indent="0">
              <a:lnSpc>
                <a:spcPct val="170000"/>
              </a:lnSpc>
              <a:buNone/>
            </a:pPr>
            <a:r>
              <a:rPr lang="en-IN" sz="1600" b="1" dirty="0">
                <a:latin typeface="Times New Roman" panose="02020603050405020304" pitchFamily="18" charset="0"/>
                <a:cs typeface="Times New Roman" panose="02020603050405020304" pitchFamily="18" charset="0"/>
              </a:rPr>
              <a:t>Modules Developed</a:t>
            </a:r>
          </a:p>
          <a:p>
            <a:pPr>
              <a:lnSpc>
                <a:spcPct val="170000"/>
              </a:lnSpc>
            </a:pPr>
            <a:r>
              <a:rPr lang="en-IN" sz="1600" dirty="0">
                <a:latin typeface="Times New Roman" panose="02020603050405020304" pitchFamily="18" charset="0"/>
                <a:cs typeface="Times New Roman" panose="02020603050405020304" pitchFamily="18" charset="0"/>
              </a:rPr>
              <a:t>Student Module </a:t>
            </a:r>
          </a:p>
          <a:p>
            <a:pPr>
              <a:lnSpc>
                <a:spcPct val="170000"/>
              </a:lnSpc>
            </a:pPr>
            <a:r>
              <a:rPr lang="en-IN" sz="1600" dirty="0">
                <a:latin typeface="Times New Roman" panose="02020603050405020304" pitchFamily="18" charset="0"/>
                <a:cs typeface="Times New Roman" panose="02020603050405020304" pitchFamily="18" charset="0"/>
              </a:rPr>
              <a:t>Faculty Module </a:t>
            </a:r>
          </a:p>
          <a:p>
            <a:pPr>
              <a:lnSpc>
                <a:spcPct val="170000"/>
              </a:lnSpc>
            </a:pPr>
            <a:r>
              <a:rPr lang="en-IN" sz="1600" dirty="0">
                <a:latin typeface="Times New Roman" panose="02020603050405020304" pitchFamily="18" charset="0"/>
                <a:cs typeface="Times New Roman" panose="02020603050405020304" pitchFamily="18" charset="0"/>
              </a:rPr>
              <a:t>Verification Module </a:t>
            </a:r>
          </a:p>
          <a:p>
            <a:pPr>
              <a:lnSpc>
                <a:spcPct val="170000"/>
              </a:lnSpc>
            </a:pPr>
            <a:r>
              <a:rPr lang="en-IN" sz="1600" dirty="0">
                <a:latin typeface="Times New Roman" panose="02020603050405020304" pitchFamily="18" charset="0"/>
                <a:cs typeface="Times New Roman" panose="02020603050405020304" pitchFamily="18" charset="0"/>
              </a:rPr>
              <a:t>Analytics Module</a:t>
            </a:r>
          </a:p>
          <a:p>
            <a:pPr marL="50800" indent="0">
              <a:lnSpc>
                <a:spcPct val="17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1662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7"/>
          <p:cNvSpPr txBox="1">
            <a:spLocks noGrp="1"/>
          </p:cNvSpPr>
          <p:nvPr>
            <p:ph type="title"/>
          </p:nvPr>
        </p:nvSpPr>
        <p:spPr>
          <a:xfrm>
            <a:off x="609600" y="53921"/>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IN" sz="4000" b="1" dirty="0">
                <a:latin typeface="Times New Roman"/>
                <a:ea typeface="Times New Roman"/>
                <a:cs typeface="Times New Roman"/>
                <a:sym typeface="Times New Roman"/>
              </a:rPr>
              <a:t>IMPLEMENTATION </a:t>
            </a:r>
            <a:endParaRPr sz="4000"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90C2D437-1356-E151-84A0-8542268C2937}"/>
              </a:ext>
            </a:extLst>
          </p:cNvPr>
          <p:cNvPicPr>
            <a:picLocks noChangeAspect="1"/>
          </p:cNvPicPr>
          <p:nvPr/>
        </p:nvPicPr>
        <p:blipFill>
          <a:blip r:embed="rId3"/>
          <a:stretch>
            <a:fillRect/>
          </a:stretch>
        </p:blipFill>
        <p:spPr>
          <a:xfrm>
            <a:off x="311327" y="939802"/>
            <a:ext cx="5615483" cy="5571066"/>
          </a:xfrm>
          <a:prstGeom prst="rect">
            <a:avLst/>
          </a:prstGeom>
        </p:spPr>
      </p:pic>
      <p:pic>
        <p:nvPicPr>
          <p:cNvPr id="10" name="Picture 9">
            <a:extLst>
              <a:ext uri="{FF2B5EF4-FFF2-40B4-BE49-F238E27FC236}">
                <a16:creationId xmlns:a16="http://schemas.microsoft.com/office/drawing/2014/main" id="{73B7504F-F7F7-AD30-217F-DF2489A2EDC2}"/>
              </a:ext>
            </a:extLst>
          </p:cNvPr>
          <p:cNvPicPr>
            <a:picLocks noChangeAspect="1"/>
          </p:cNvPicPr>
          <p:nvPr/>
        </p:nvPicPr>
        <p:blipFill>
          <a:blip r:embed="rId4"/>
          <a:stretch>
            <a:fillRect/>
          </a:stretch>
        </p:blipFill>
        <p:spPr>
          <a:xfrm>
            <a:off x="6169454" y="917772"/>
            <a:ext cx="5711219" cy="559309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6" name="Picture 5">
            <a:extLst>
              <a:ext uri="{FF2B5EF4-FFF2-40B4-BE49-F238E27FC236}">
                <a16:creationId xmlns:a16="http://schemas.microsoft.com/office/drawing/2014/main" id="{09DA377C-FFE1-CFCD-1C0D-8E130A9DE278}"/>
              </a:ext>
            </a:extLst>
          </p:cNvPr>
          <p:cNvPicPr>
            <a:picLocks noChangeAspect="1"/>
          </p:cNvPicPr>
          <p:nvPr/>
        </p:nvPicPr>
        <p:blipFill>
          <a:blip r:embed="rId3"/>
          <a:stretch>
            <a:fillRect/>
          </a:stretch>
        </p:blipFill>
        <p:spPr>
          <a:xfrm>
            <a:off x="552947" y="268616"/>
            <a:ext cx="6686054" cy="632076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45C21-D50C-5363-D631-82D0B6E3C1CE}"/>
              </a:ext>
            </a:extLst>
          </p:cNvPr>
          <p:cNvSpPr>
            <a:spLocks noGrp="1"/>
          </p:cNvSpPr>
          <p:nvPr>
            <p:ph type="title"/>
          </p:nvPr>
        </p:nvSpPr>
        <p:spPr/>
        <p:txBody>
          <a:bodyPr>
            <a:normAutofit/>
          </a:bodyPr>
          <a:lstStyle/>
          <a:p>
            <a:r>
              <a:rPr lang="en-IN" sz="3600" dirty="0"/>
              <a:t>Result </a:t>
            </a:r>
            <a:r>
              <a:rPr lang="en-IN" sz="3600" dirty="0">
                <a:latin typeface="Times New Roman" panose="02020603050405020304" pitchFamily="18" charset="0"/>
                <a:cs typeface="Times New Roman" panose="02020603050405020304" pitchFamily="18" charset="0"/>
              </a:rPr>
              <a:t>Analysis</a:t>
            </a:r>
          </a:p>
        </p:txBody>
      </p:sp>
      <p:sp>
        <p:nvSpPr>
          <p:cNvPr id="3" name="Text Placeholder 2">
            <a:extLst>
              <a:ext uri="{FF2B5EF4-FFF2-40B4-BE49-F238E27FC236}">
                <a16:creationId xmlns:a16="http://schemas.microsoft.com/office/drawing/2014/main" id="{C52EE6F9-75E6-3AEF-887B-0E8F2439FAEB}"/>
              </a:ext>
            </a:extLst>
          </p:cNvPr>
          <p:cNvSpPr>
            <a:spLocks noGrp="1"/>
          </p:cNvSpPr>
          <p:nvPr>
            <p:ph type="body" idx="1"/>
          </p:nvPr>
        </p:nvSpPr>
        <p:spPr>
          <a:xfrm>
            <a:off x="609600" y="1331494"/>
            <a:ext cx="10972800" cy="721895"/>
          </a:xfrm>
        </p:spPr>
        <p:txBody>
          <a:bodyPr>
            <a:normAutofit/>
          </a:bodyPr>
          <a:lstStyle/>
          <a:p>
            <a:pPr marL="114300" indent="0">
              <a:buNone/>
            </a:pPr>
            <a:r>
              <a:rPr lang="en-IN" sz="1800" b="1" dirty="0">
                <a:latin typeface="Times New Roman" panose="02020603050405020304" pitchFamily="18" charset="0"/>
                <a:cs typeface="Times New Roman" panose="02020603050405020304" pitchFamily="18" charset="0"/>
              </a:rPr>
              <a:t>Attendance Classification</a:t>
            </a:r>
          </a:p>
        </p:txBody>
      </p:sp>
      <p:graphicFrame>
        <p:nvGraphicFramePr>
          <p:cNvPr id="4" name="Table 3">
            <a:extLst>
              <a:ext uri="{FF2B5EF4-FFF2-40B4-BE49-F238E27FC236}">
                <a16:creationId xmlns:a16="http://schemas.microsoft.com/office/drawing/2014/main" id="{D9B57428-739B-F120-031D-908F21F57CBC}"/>
              </a:ext>
            </a:extLst>
          </p:cNvPr>
          <p:cNvGraphicFramePr>
            <a:graphicFrameLocks noGrp="1"/>
          </p:cNvGraphicFramePr>
          <p:nvPr>
            <p:extLst>
              <p:ext uri="{D42A27DB-BD31-4B8C-83A1-F6EECF244321}">
                <p14:modId xmlns:p14="http://schemas.microsoft.com/office/powerpoint/2010/main" val="2089027304"/>
              </p:ext>
            </p:extLst>
          </p:nvPr>
        </p:nvGraphicFramePr>
        <p:xfrm>
          <a:off x="609600" y="1864894"/>
          <a:ext cx="10972800" cy="1653540"/>
        </p:xfrm>
        <a:graphic>
          <a:graphicData uri="http://schemas.openxmlformats.org/drawingml/2006/table">
            <a:tbl>
              <a:tblPr>
                <a:tableStyleId>{5940675A-B579-460E-94D1-54222C63F5DA}</a:tableStyleId>
              </a:tblPr>
              <a:tblGrid>
                <a:gridCol w="5486400">
                  <a:extLst>
                    <a:ext uri="{9D8B030D-6E8A-4147-A177-3AD203B41FA5}">
                      <a16:colId xmlns:a16="http://schemas.microsoft.com/office/drawing/2014/main" val="1245244253"/>
                    </a:ext>
                  </a:extLst>
                </a:gridCol>
                <a:gridCol w="5486400">
                  <a:extLst>
                    <a:ext uri="{9D8B030D-6E8A-4147-A177-3AD203B41FA5}">
                      <a16:colId xmlns:a16="http://schemas.microsoft.com/office/drawing/2014/main" val="2693090942"/>
                    </a:ext>
                  </a:extLst>
                </a:gridCol>
              </a:tblGrid>
              <a:tr h="0">
                <a:tc>
                  <a:txBody>
                    <a:bodyPr/>
                    <a:lstStyle/>
                    <a:p>
                      <a:pPr algn="l">
                        <a:lnSpc>
                          <a:spcPct val="150000"/>
                        </a:lnSpc>
                        <a:buNone/>
                      </a:pPr>
                      <a:r>
                        <a:rPr lang="en-IN" sz="1600" b="1">
                          <a:latin typeface="Times New Roman" panose="02020603050405020304" pitchFamily="18" charset="0"/>
                          <a:cs typeface="Times New Roman" panose="02020603050405020304" pitchFamily="18" charset="0"/>
                        </a:rPr>
                        <a:t>Score</a:t>
                      </a:r>
                    </a:p>
                  </a:txBody>
                  <a:tcPr anchor="ctr"/>
                </a:tc>
                <a:tc>
                  <a:txBody>
                    <a:bodyPr/>
                    <a:lstStyle/>
                    <a:p>
                      <a:pPr algn="l">
                        <a:lnSpc>
                          <a:spcPct val="150000"/>
                        </a:lnSpc>
                        <a:buNone/>
                      </a:pPr>
                      <a:r>
                        <a:rPr lang="en-IN" sz="1600" b="1" dirty="0">
                          <a:latin typeface="Times New Roman" panose="02020603050405020304" pitchFamily="18" charset="0"/>
                          <a:cs typeface="Times New Roman" panose="02020603050405020304" pitchFamily="18" charset="0"/>
                        </a:rPr>
                        <a:t>Result</a:t>
                      </a:r>
                    </a:p>
                  </a:txBody>
                  <a:tcPr anchor="ctr"/>
                </a:tc>
                <a:extLst>
                  <a:ext uri="{0D108BD9-81ED-4DB2-BD59-A6C34878D82A}">
                    <a16:rowId xmlns:a16="http://schemas.microsoft.com/office/drawing/2014/main" val="3653685895"/>
                  </a:ext>
                </a:extLst>
              </a:tr>
              <a:tr h="0">
                <a:tc>
                  <a:txBody>
                    <a:bodyPr/>
                    <a:lstStyle/>
                    <a:p>
                      <a:pPr>
                        <a:lnSpc>
                          <a:spcPct val="150000"/>
                        </a:lnSpc>
                        <a:buNone/>
                      </a:pPr>
                      <a:r>
                        <a:rPr lang="en-IN" sz="1600" dirty="0">
                          <a:latin typeface="Times New Roman" panose="02020603050405020304" pitchFamily="18" charset="0"/>
                          <a:cs typeface="Times New Roman" panose="02020603050405020304" pitchFamily="18" charset="0"/>
                        </a:rPr>
                        <a:t>80-100</a:t>
                      </a:r>
                    </a:p>
                  </a:txBody>
                  <a:tcPr anchor="ctr"/>
                </a:tc>
                <a:tc>
                  <a:txBody>
                    <a:bodyPr/>
                    <a:lstStyle/>
                    <a:p>
                      <a:pPr>
                        <a:lnSpc>
                          <a:spcPct val="150000"/>
                        </a:lnSpc>
                        <a:buNone/>
                      </a:pPr>
                      <a:r>
                        <a:rPr lang="en-IN" sz="1600">
                          <a:latin typeface="Times New Roman" panose="02020603050405020304" pitchFamily="18" charset="0"/>
                          <a:cs typeface="Times New Roman" panose="02020603050405020304" pitchFamily="18" charset="0"/>
                        </a:rPr>
                        <a:t>Valid</a:t>
                      </a:r>
                    </a:p>
                  </a:txBody>
                  <a:tcPr anchor="ctr"/>
                </a:tc>
                <a:extLst>
                  <a:ext uri="{0D108BD9-81ED-4DB2-BD59-A6C34878D82A}">
                    <a16:rowId xmlns:a16="http://schemas.microsoft.com/office/drawing/2014/main" val="3082773492"/>
                  </a:ext>
                </a:extLst>
              </a:tr>
              <a:tr h="0">
                <a:tc>
                  <a:txBody>
                    <a:bodyPr/>
                    <a:lstStyle/>
                    <a:p>
                      <a:pPr>
                        <a:lnSpc>
                          <a:spcPct val="150000"/>
                        </a:lnSpc>
                        <a:buNone/>
                      </a:pPr>
                      <a:r>
                        <a:rPr lang="en-IN" sz="1600">
                          <a:latin typeface="Times New Roman" panose="02020603050405020304" pitchFamily="18" charset="0"/>
                          <a:cs typeface="Times New Roman" panose="02020603050405020304" pitchFamily="18" charset="0"/>
                        </a:rPr>
                        <a:t>60-79</a:t>
                      </a:r>
                    </a:p>
                  </a:txBody>
                  <a:tcPr anchor="ctr"/>
                </a:tc>
                <a:tc>
                  <a:txBody>
                    <a:bodyPr/>
                    <a:lstStyle/>
                    <a:p>
                      <a:pPr>
                        <a:lnSpc>
                          <a:spcPct val="150000"/>
                        </a:lnSpc>
                        <a:buNone/>
                      </a:pPr>
                      <a:r>
                        <a:rPr lang="en-IN" sz="1600">
                          <a:latin typeface="Times New Roman" panose="02020603050405020304" pitchFamily="18" charset="0"/>
                          <a:cs typeface="Times New Roman" panose="02020603050405020304" pitchFamily="18" charset="0"/>
                        </a:rPr>
                        <a:t>Suspicious</a:t>
                      </a:r>
                    </a:p>
                  </a:txBody>
                  <a:tcPr anchor="ctr"/>
                </a:tc>
                <a:extLst>
                  <a:ext uri="{0D108BD9-81ED-4DB2-BD59-A6C34878D82A}">
                    <a16:rowId xmlns:a16="http://schemas.microsoft.com/office/drawing/2014/main" val="2438975330"/>
                  </a:ext>
                </a:extLst>
              </a:tr>
              <a:tr h="0">
                <a:tc>
                  <a:txBody>
                    <a:bodyPr/>
                    <a:lstStyle/>
                    <a:p>
                      <a:pPr>
                        <a:lnSpc>
                          <a:spcPct val="150000"/>
                        </a:lnSpc>
                        <a:buNone/>
                      </a:pPr>
                      <a:r>
                        <a:rPr lang="en-IN" sz="1600" dirty="0">
                          <a:latin typeface="Times New Roman" panose="02020603050405020304" pitchFamily="18" charset="0"/>
                          <a:cs typeface="Times New Roman" panose="02020603050405020304" pitchFamily="18" charset="0"/>
                        </a:rPr>
                        <a:t>Below 60</a:t>
                      </a:r>
                    </a:p>
                  </a:txBody>
                  <a:tcPr anchor="ctr"/>
                </a:tc>
                <a:tc>
                  <a:txBody>
                    <a:bodyPr/>
                    <a:lstStyle/>
                    <a:p>
                      <a:pPr>
                        <a:lnSpc>
                          <a:spcPct val="150000"/>
                        </a:lnSpc>
                        <a:buNone/>
                      </a:pPr>
                      <a:r>
                        <a:rPr lang="en-IN" sz="1600" dirty="0">
                          <a:latin typeface="Times New Roman" panose="02020603050405020304" pitchFamily="18" charset="0"/>
                          <a:cs typeface="Times New Roman" panose="02020603050405020304" pitchFamily="18" charset="0"/>
                        </a:rPr>
                        <a:t>Rejected</a:t>
                      </a:r>
                    </a:p>
                  </a:txBody>
                  <a:tcPr anchor="ctr"/>
                </a:tc>
                <a:extLst>
                  <a:ext uri="{0D108BD9-81ED-4DB2-BD59-A6C34878D82A}">
                    <a16:rowId xmlns:a16="http://schemas.microsoft.com/office/drawing/2014/main" val="328974809"/>
                  </a:ext>
                </a:extLst>
              </a:tr>
            </a:tbl>
          </a:graphicData>
        </a:graphic>
      </p:graphicFrame>
      <p:sp>
        <p:nvSpPr>
          <p:cNvPr id="5" name="TextBox 4">
            <a:extLst>
              <a:ext uri="{FF2B5EF4-FFF2-40B4-BE49-F238E27FC236}">
                <a16:creationId xmlns:a16="http://schemas.microsoft.com/office/drawing/2014/main" id="{5064491A-4245-C9A6-8C5E-93CB3C6C5D48}"/>
              </a:ext>
            </a:extLst>
          </p:cNvPr>
          <p:cNvSpPr txBox="1"/>
          <p:nvPr/>
        </p:nvSpPr>
        <p:spPr>
          <a:xfrm>
            <a:off x="609600" y="3429000"/>
            <a:ext cx="10972800" cy="2591543"/>
          </a:xfrm>
          <a:prstGeom prst="rect">
            <a:avLst/>
          </a:prstGeom>
          <a:noFill/>
        </p:spPr>
        <p:txBody>
          <a:bodyPr wrap="square" rtlCol="0">
            <a:spAutoFit/>
          </a:bodyPr>
          <a:lstStyle/>
          <a:p>
            <a:pPr>
              <a:lnSpc>
                <a:spcPct val="150000"/>
              </a:lnSpc>
              <a:buNone/>
            </a:pPr>
            <a:endParaRPr lang="en-IN" sz="1600" b="1" dirty="0">
              <a:latin typeface="Times New Roman" panose="02020603050405020304" pitchFamily="18" charset="0"/>
              <a:cs typeface="Times New Roman" panose="02020603050405020304" pitchFamily="18" charset="0"/>
            </a:endParaRPr>
          </a:p>
          <a:p>
            <a:pPr>
              <a:lnSpc>
                <a:spcPct val="150000"/>
              </a:lnSpc>
              <a:buNone/>
            </a:pPr>
            <a:r>
              <a:rPr lang="en-IN" sz="1600" b="1" dirty="0">
                <a:latin typeface="Times New Roman" panose="02020603050405020304" pitchFamily="18" charset="0"/>
                <a:cs typeface="Times New Roman" panose="02020603050405020304" pitchFamily="18" charset="0"/>
              </a:rPr>
              <a:t>Outcomes</a:t>
            </a:r>
          </a:p>
          <a:p>
            <a:pPr>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Accurate attendance marking </a:t>
            </a:r>
          </a:p>
          <a:p>
            <a:pPr>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Reduced proxy attendance </a:t>
            </a:r>
          </a:p>
          <a:p>
            <a:pPr>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Real-time attendance monitoring </a:t>
            </a:r>
          </a:p>
          <a:p>
            <a:pPr>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Improved attendance insights</a:t>
            </a:r>
          </a:p>
          <a:p>
            <a:pPr>
              <a:lnSpc>
                <a:spcPct val="150000"/>
              </a:lnSpc>
            </a:pPr>
            <a:endParaRPr lang="en-IN" dirty="0"/>
          </a:p>
        </p:txBody>
      </p:sp>
    </p:spTree>
    <p:extLst>
      <p:ext uri="{BB962C8B-B14F-4D97-AF65-F5344CB8AC3E}">
        <p14:creationId xmlns:p14="http://schemas.microsoft.com/office/powerpoint/2010/main" val="2380125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9"/>
          <p:cNvSpPr txBox="1">
            <a:spLocks noGrp="1"/>
          </p:cNvSpPr>
          <p:nvPr>
            <p:ph type="title"/>
          </p:nvPr>
        </p:nvSpPr>
        <p:spPr>
          <a:xfrm>
            <a:off x="609600" y="274638"/>
            <a:ext cx="10972800" cy="13509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IN" sz="3600" b="1" dirty="0">
                <a:latin typeface="Times New Roman"/>
                <a:ea typeface="Times New Roman"/>
                <a:cs typeface="Times New Roman"/>
                <a:sym typeface="Times New Roman"/>
              </a:rPr>
              <a:t>RESULT ANALYSIS</a:t>
            </a:r>
            <a:br>
              <a:rPr lang="en-IN" sz="3600" b="1" dirty="0">
                <a:latin typeface="Times New Roman"/>
                <a:ea typeface="Times New Roman"/>
                <a:cs typeface="Times New Roman"/>
                <a:sym typeface="Times New Roman"/>
              </a:rPr>
            </a:br>
            <a:r>
              <a:rPr lang="en-IN" sz="2800" b="1" dirty="0">
                <a:latin typeface="Times New Roman"/>
                <a:ea typeface="Times New Roman"/>
                <a:cs typeface="Times New Roman"/>
                <a:sym typeface="Times New Roman"/>
              </a:rPr>
              <a:t>Faculty Dashboard </a:t>
            </a:r>
            <a:endParaRPr sz="3600"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163D8A23-B938-4734-820C-00519E0A7891}"/>
              </a:ext>
            </a:extLst>
          </p:cNvPr>
          <p:cNvPicPr>
            <a:picLocks noChangeAspect="1"/>
          </p:cNvPicPr>
          <p:nvPr/>
        </p:nvPicPr>
        <p:blipFill>
          <a:blip r:embed="rId3"/>
          <a:srcRect r="523" b="32963"/>
          <a:stretch>
            <a:fillRect/>
          </a:stretch>
        </p:blipFill>
        <p:spPr>
          <a:xfrm>
            <a:off x="859967" y="2093847"/>
            <a:ext cx="3303470" cy="3796515"/>
          </a:xfrm>
          <a:prstGeom prst="rect">
            <a:avLst/>
          </a:prstGeom>
        </p:spPr>
      </p:pic>
      <p:pic>
        <p:nvPicPr>
          <p:cNvPr id="6" name="Picture 5">
            <a:extLst>
              <a:ext uri="{FF2B5EF4-FFF2-40B4-BE49-F238E27FC236}">
                <a16:creationId xmlns:a16="http://schemas.microsoft.com/office/drawing/2014/main" id="{EB84983A-D5C6-D933-4410-CA2FCDA46390}"/>
              </a:ext>
            </a:extLst>
          </p:cNvPr>
          <p:cNvPicPr>
            <a:picLocks noChangeAspect="1"/>
          </p:cNvPicPr>
          <p:nvPr/>
        </p:nvPicPr>
        <p:blipFill>
          <a:blip r:embed="rId4"/>
          <a:srcRect t="986" r="4851"/>
          <a:stretch>
            <a:fillRect/>
          </a:stretch>
        </p:blipFill>
        <p:spPr>
          <a:xfrm>
            <a:off x="4962217" y="1761211"/>
            <a:ext cx="2372444" cy="4920389"/>
          </a:xfrm>
          <a:prstGeom prst="rect">
            <a:avLst/>
          </a:prstGeom>
        </p:spPr>
      </p:pic>
      <p:pic>
        <p:nvPicPr>
          <p:cNvPr id="8" name="Picture 7">
            <a:extLst>
              <a:ext uri="{FF2B5EF4-FFF2-40B4-BE49-F238E27FC236}">
                <a16:creationId xmlns:a16="http://schemas.microsoft.com/office/drawing/2014/main" id="{1213832C-27F7-C62A-D0DD-F7EFBF8D4E03}"/>
              </a:ext>
            </a:extLst>
          </p:cNvPr>
          <p:cNvPicPr>
            <a:picLocks noChangeAspect="1"/>
          </p:cNvPicPr>
          <p:nvPr/>
        </p:nvPicPr>
        <p:blipFill>
          <a:blip r:embed="rId5"/>
          <a:stretch>
            <a:fillRect/>
          </a:stretch>
        </p:blipFill>
        <p:spPr>
          <a:xfrm>
            <a:off x="8133442" y="1837412"/>
            <a:ext cx="2777198" cy="447872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0E9C5E-96C9-9E19-97E0-C028763CCAD1}"/>
              </a:ext>
            </a:extLst>
          </p:cNvPr>
          <p:cNvPicPr>
            <a:picLocks noChangeAspect="1"/>
          </p:cNvPicPr>
          <p:nvPr/>
        </p:nvPicPr>
        <p:blipFill>
          <a:blip r:embed="rId2"/>
          <a:stretch>
            <a:fillRect/>
          </a:stretch>
        </p:blipFill>
        <p:spPr>
          <a:xfrm>
            <a:off x="855280" y="643466"/>
            <a:ext cx="2714699" cy="5020734"/>
          </a:xfrm>
          <a:prstGeom prst="rect">
            <a:avLst/>
          </a:prstGeom>
        </p:spPr>
      </p:pic>
      <p:pic>
        <p:nvPicPr>
          <p:cNvPr id="5" name="Picture 4">
            <a:extLst>
              <a:ext uri="{FF2B5EF4-FFF2-40B4-BE49-F238E27FC236}">
                <a16:creationId xmlns:a16="http://schemas.microsoft.com/office/drawing/2014/main" id="{EC2477B0-0B56-5435-C349-D5E82F9F22A7}"/>
              </a:ext>
            </a:extLst>
          </p:cNvPr>
          <p:cNvPicPr>
            <a:picLocks noChangeAspect="1"/>
          </p:cNvPicPr>
          <p:nvPr/>
        </p:nvPicPr>
        <p:blipFill>
          <a:blip r:embed="rId3"/>
          <a:stretch>
            <a:fillRect/>
          </a:stretch>
        </p:blipFill>
        <p:spPr>
          <a:xfrm>
            <a:off x="4225807" y="541867"/>
            <a:ext cx="2880625" cy="5528733"/>
          </a:xfrm>
          <a:prstGeom prst="rect">
            <a:avLst/>
          </a:prstGeom>
        </p:spPr>
      </p:pic>
      <p:pic>
        <p:nvPicPr>
          <p:cNvPr id="9" name="Picture 8">
            <a:extLst>
              <a:ext uri="{FF2B5EF4-FFF2-40B4-BE49-F238E27FC236}">
                <a16:creationId xmlns:a16="http://schemas.microsoft.com/office/drawing/2014/main" id="{F3658A99-CA28-A157-D9B8-20B2B161FCC7}"/>
              </a:ext>
            </a:extLst>
          </p:cNvPr>
          <p:cNvPicPr>
            <a:picLocks noChangeAspect="1"/>
          </p:cNvPicPr>
          <p:nvPr/>
        </p:nvPicPr>
        <p:blipFill>
          <a:blip r:embed="rId4"/>
          <a:stretch>
            <a:fillRect/>
          </a:stretch>
        </p:blipFill>
        <p:spPr>
          <a:xfrm>
            <a:off x="7966194" y="1121833"/>
            <a:ext cx="3612444" cy="4063999"/>
          </a:xfrm>
          <a:prstGeom prst="rect">
            <a:avLst/>
          </a:prstGeom>
        </p:spPr>
      </p:pic>
    </p:spTree>
    <p:extLst>
      <p:ext uri="{BB962C8B-B14F-4D97-AF65-F5344CB8AC3E}">
        <p14:creationId xmlns:p14="http://schemas.microsoft.com/office/powerpoint/2010/main" val="3660137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DBF89-24DB-BBB4-0D37-C556796061A8}"/>
              </a:ext>
            </a:extLst>
          </p:cNvPr>
          <p:cNvSpPr>
            <a:spLocks noGrp="1"/>
          </p:cNvSpPr>
          <p:nvPr>
            <p:ph type="title"/>
          </p:nvPr>
        </p:nvSpPr>
        <p:spPr/>
        <p:txBody>
          <a:bodyPr>
            <a:normAutofit/>
          </a:bodyPr>
          <a:lstStyle/>
          <a:p>
            <a:r>
              <a:rPr lang="en-IN" sz="4000" b="1" dirty="0">
                <a:latin typeface="Times New Roman"/>
                <a:ea typeface="Times New Roman"/>
                <a:cs typeface="Times New Roman"/>
                <a:sym typeface="Times New Roman"/>
              </a:rPr>
              <a:t>RESULT ANALYSIS</a:t>
            </a:r>
            <a:br>
              <a:rPr lang="en-IN" sz="5400" b="1" dirty="0">
                <a:latin typeface="Times New Roman"/>
                <a:ea typeface="Times New Roman"/>
                <a:cs typeface="Times New Roman"/>
                <a:sym typeface="Times New Roman"/>
              </a:rPr>
            </a:br>
            <a:r>
              <a:rPr lang="en-IN" sz="2700" b="1" dirty="0">
                <a:latin typeface="Times New Roman"/>
                <a:ea typeface="Times New Roman"/>
                <a:cs typeface="Times New Roman"/>
                <a:sym typeface="Times New Roman"/>
              </a:rPr>
              <a:t>Student Dashboard </a:t>
            </a:r>
            <a:endParaRPr lang="en-IN" dirty="0"/>
          </a:p>
        </p:txBody>
      </p:sp>
      <p:pic>
        <p:nvPicPr>
          <p:cNvPr id="7" name="Picture 6">
            <a:extLst>
              <a:ext uri="{FF2B5EF4-FFF2-40B4-BE49-F238E27FC236}">
                <a16:creationId xmlns:a16="http://schemas.microsoft.com/office/drawing/2014/main" id="{30D2CBF2-12E9-05D1-97F3-1C9A31080B7C}"/>
              </a:ext>
            </a:extLst>
          </p:cNvPr>
          <p:cNvPicPr>
            <a:picLocks noChangeAspect="1"/>
          </p:cNvPicPr>
          <p:nvPr/>
        </p:nvPicPr>
        <p:blipFill>
          <a:blip r:embed="rId2"/>
          <a:stretch>
            <a:fillRect/>
          </a:stretch>
        </p:blipFill>
        <p:spPr>
          <a:xfrm>
            <a:off x="8639491" y="1417638"/>
            <a:ext cx="3057952" cy="3943900"/>
          </a:xfrm>
          <a:prstGeom prst="rect">
            <a:avLst/>
          </a:prstGeom>
        </p:spPr>
      </p:pic>
      <p:pic>
        <p:nvPicPr>
          <p:cNvPr id="9" name="Picture 8">
            <a:extLst>
              <a:ext uri="{FF2B5EF4-FFF2-40B4-BE49-F238E27FC236}">
                <a16:creationId xmlns:a16="http://schemas.microsoft.com/office/drawing/2014/main" id="{03530BFA-68D4-AA28-51DE-41B7ED236199}"/>
              </a:ext>
            </a:extLst>
          </p:cNvPr>
          <p:cNvPicPr>
            <a:picLocks noChangeAspect="1"/>
          </p:cNvPicPr>
          <p:nvPr/>
        </p:nvPicPr>
        <p:blipFill>
          <a:blip r:embed="rId3"/>
          <a:srcRect r="6414" b="1568"/>
          <a:stretch>
            <a:fillRect/>
          </a:stretch>
        </p:blipFill>
        <p:spPr>
          <a:xfrm>
            <a:off x="321732" y="725022"/>
            <a:ext cx="2362201" cy="5077687"/>
          </a:xfrm>
          <a:prstGeom prst="rect">
            <a:avLst/>
          </a:prstGeom>
        </p:spPr>
      </p:pic>
      <p:pic>
        <p:nvPicPr>
          <p:cNvPr id="11" name="Picture 10">
            <a:extLst>
              <a:ext uri="{FF2B5EF4-FFF2-40B4-BE49-F238E27FC236}">
                <a16:creationId xmlns:a16="http://schemas.microsoft.com/office/drawing/2014/main" id="{E6298AA9-975E-F0FC-FFB7-1FE081999AD9}"/>
              </a:ext>
            </a:extLst>
          </p:cNvPr>
          <p:cNvPicPr>
            <a:picLocks noChangeAspect="1"/>
          </p:cNvPicPr>
          <p:nvPr/>
        </p:nvPicPr>
        <p:blipFill>
          <a:blip r:embed="rId4"/>
          <a:stretch>
            <a:fillRect/>
          </a:stretch>
        </p:blipFill>
        <p:spPr>
          <a:xfrm>
            <a:off x="3727867" y="1417638"/>
            <a:ext cx="3867690" cy="4153480"/>
          </a:xfrm>
          <a:prstGeom prst="rect">
            <a:avLst/>
          </a:prstGeom>
        </p:spPr>
      </p:pic>
    </p:spTree>
    <p:extLst>
      <p:ext uri="{BB962C8B-B14F-4D97-AF65-F5344CB8AC3E}">
        <p14:creationId xmlns:p14="http://schemas.microsoft.com/office/powerpoint/2010/main" val="1540596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B12204-ED56-872F-8D76-361F040088AC}"/>
              </a:ext>
            </a:extLst>
          </p:cNvPr>
          <p:cNvPicPr>
            <a:picLocks noChangeAspect="1"/>
          </p:cNvPicPr>
          <p:nvPr/>
        </p:nvPicPr>
        <p:blipFill>
          <a:blip r:embed="rId2"/>
          <a:srcRect t="1235" r="2593"/>
          <a:stretch>
            <a:fillRect/>
          </a:stretch>
        </p:blipFill>
        <p:spPr>
          <a:xfrm>
            <a:off x="497152" y="423332"/>
            <a:ext cx="2489680" cy="5156201"/>
          </a:xfrm>
          <a:prstGeom prst="rect">
            <a:avLst/>
          </a:prstGeom>
        </p:spPr>
      </p:pic>
      <p:pic>
        <p:nvPicPr>
          <p:cNvPr id="6" name="Picture 5">
            <a:extLst>
              <a:ext uri="{FF2B5EF4-FFF2-40B4-BE49-F238E27FC236}">
                <a16:creationId xmlns:a16="http://schemas.microsoft.com/office/drawing/2014/main" id="{E192B6DE-489A-521E-03D7-D1607FD3EF33}"/>
              </a:ext>
            </a:extLst>
          </p:cNvPr>
          <p:cNvPicPr>
            <a:picLocks noChangeAspect="1"/>
          </p:cNvPicPr>
          <p:nvPr/>
        </p:nvPicPr>
        <p:blipFill>
          <a:blip r:embed="rId3"/>
          <a:srcRect l="2479" t="-1290" b="1"/>
          <a:stretch>
            <a:fillRect/>
          </a:stretch>
        </p:blipFill>
        <p:spPr>
          <a:xfrm>
            <a:off x="4250266" y="1634067"/>
            <a:ext cx="3214388" cy="2190371"/>
          </a:xfrm>
          <a:prstGeom prst="rect">
            <a:avLst/>
          </a:prstGeom>
        </p:spPr>
      </p:pic>
      <p:pic>
        <p:nvPicPr>
          <p:cNvPr id="8" name="Picture 7">
            <a:extLst>
              <a:ext uri="{FF2B5EF4-FFF2-40B4-BE49-F238E27FC236}">
                <a16:creationId xmlns:a16="http://schemas.microsoft.com/office/drawing/2014/main" id="{8D7E8A5F-1B9C-D326-5F20-72017EBF750F}"/>
              </a:ext>
            </a:extLst>
          </p:cNvPr>
          <p:cNvPicPr>
            <a:picLocks noChangeAspect="1"/>
          </p:cNvPicPr>
          <p:nvPr/>
        </p:nvPicPr>
        <p:blipFill>
          <a:blip r:embed="rId4"/>
          <a:stretch>
            <a:fillRect/>
          </a:stretch>
        </p:blipFill>
        <p:spPr>
          <a:xfrm>
            <a:off x="8492067" y="293210"/>
            <a:ext cx="2678744" cy="5599590"/>
          </a:xfrm>
          <a:prstGeom prst="rect">
            <a:avLst/>
          </a:prstGeom>
        </p:spPr>
      </p:pic>
    </p:spTree>
    <p:extLst>
      <p:ext uri="{BB962C8B-B14F-4D97-AF65-F5344CB8AC3E}">
        <p14:creationId xmlns:p14="http://schemas.microsoft.com/office/powerpoint/2010/main" val="2493950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159EA9-B1A9-60EE-C5E4-87509A30C205}"/>
              </a:ext>
            </a:extLst>
          </p:cNvPr>
          <p:cNvPicPr>
            <a:picLocks noChangeAspect="1"/>
          </p:cNvPicPr>
          <p:nvPr/>
        </p:nvPicPr>
        <p:blipFill>
          <a:blip r:embed="rId3"/>
          <a:stretch>
            <a:fillRect/>
          </a:stretch>
        </p:blipFill>
        <p:spPr>
          <a:xfrm>
            <a:off x="145317" y="215899"/>
            <a:ext cx="2482288" cy="5528733"/>
          </a:xfrm>
          <a:prstGeom prst="rect">
            <a:avLst/>
          </a:prstGeom>
        </p:spPr>
      </p:pic>
      <p:pic>
        <p:nvPicPr>
          <p:cNvPr id="5" name="Picture 4">
            <a:extLst>
              <a:ext uri="{FF2B5EF4-FFF2-40B4-BE49-F238E27FC236}">
                <a16:creationId xmlns:a16="http://schemas.microsoft.com/office/drawing/2014/main" id="{A3EF2596-9432-07EF-2534-5A3B1F65673C}"/>
              </a:ext>
            </a:extLst>
          </p:cNvPr>
          <p:cNvPicPr>
            <a:picLocks noChangeAspect="1"/>
          </p:cNvPicPr>
          <p:nvPr/>
        </p:nvPicPr>
        <p:blipFill>
          <a:blip r:embed="rId4"/>
          <a:stretch>
            <a:fillRect/>
          </a:stretch>
        </p:blipFill>
        <p:spPr>
          <a:xfrm>
            <a:off x="2776332" y="126997"/>
            <a:ext cx="2617107" cy="5706533"/>
          </a:xfrm>
          <a:prstGeom prst="rect">
            <a:avLst/>
          </a:prstGeom>
        </p:spPr>
      </p:pic>
      <p:pic>
        <p:nvPicPr>
          <p:cNvPr id="7" name="Picture 6">
            <a:extLst>
              <a:ext uri="{FF2B5EF4-FFF2-40B4-BE49-F238E27FC236}">
                <a16:creationId xmlns:a16="http://schemas.microsoft.com/office/drawing/2014/main" id="{82B18DA5-BF6A-5907-29A7-97D1F323F1B8}"/>
              </a:ext>
            </a:extLst>
          </p:cNvPr>
          <p:cNvPicPr>
            <a:picLocks noChangeAspect="1"/>
          </p:cNvPicPr>
          <p:nvPr/>
        </p:nvPicPr>
        <p:blipFill>
          <a:blip r:embed="rId5"/>
          <a:stretch>
            <a:fillRect/>
          </a:stretch>
        </p:blipFill>
        <p:spPr>
          <a:xfrm>
            <a:off x="5542166" y="126997"/>
            <a:ext cx="2753593" cy="5740541"/>
          </a:xfrm>
          <a:prstGeom prst="rect">
            <a:avLst/>
          </a:prstGeom>
        </p:spPr>
      </p:pic>
      <p:pic>
        <p:nvPicPr>
          <p:cNvPr id="11" name="Picture 10">
            <a:extLst>
              <a:ext uri="{FF2B5EF4-FFF2-40B4-BE49-F238E27FC236}">
                <a16:creationId xmlns:a16="http://schemas.microsoft.com/office/drawing/2014/main" id="{1205BAC3-3D82-75DF-3E1D-6B46421B1472}"/>
              </a:ext>
            </a:extLst>
          </p:cNvPr>
          <p:cNvPicPr>
            <a:picLocks noChangeAspect="1"/>
          </p:cNvPicPr>
          <p:nvPr/>
        </p:nvPicPr>
        <p:blipFill>
          <a:blip r:embed="rId6"/>
          <a:srcRect l="3695" t="1" r="2948" b="36470"/>
          <a:stretch>
            <a:fillRect/>
          </a:stretch>
        </p:blipFill>
        <p:spPr>
          <a:xfrm>
            <a:off x="8444486" y="2054501"/>
            <a:ext cx="3596023" cy="1958700"/>
          </a:xfrm>
          <a:prstGeom prst="rect">
            <a:avLst/>
          </a:prstGeom>
        </p:spPr>
      </p:pic>
    </p:spTree>
    <p:extLst>
      <p:ext uri="{BB962C8B-B14F-4D97-AF65-F5344CB8AC3E}">
        <p14:creationId xmlns:p14="http://schemas.microsoft.com/office/powerpoint/2010/main" val="1101863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60CD-8E1B-6710-F512-21A141D8720C}"/>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Advantages and Limitations</a:t>
            </a:r>
          </a:p>
        </p:txBody>
      </p:sp>
      <p:graphicFrame>
        <p:nvGraphicFramePr>
          <p:cNvPr id="4" name="Table 3">
            <a:extLst>
              <a:ext uri="{FF2B5EF4-FFF2-40B4-BE49-F238E27FC236}">
                <a16:creationId xmlns:a16="http://schemas.microsoft.com/office/drawing/2014/main" id="{4E026CF4-DDBD-D990-7E92-8E87F74E9BD3}"/>
              </a:ext>
            </a:extLst>
          </p:cNvPr>
          <p:cNvGraphicFramePr>
            <a:graphicFrameLocks noGrp="1"/>
          </p:cNvGraphicFramePr>
          <p:nvPr>
            <p:extLst>
              <p:ext uri="{D42A27DB-BD31-4B8C-83A1-F6EECF244321}">
                <p14:modId xmlns:p14="http://schemas.microsoft.com/office/powerpoint/2010/main" val="1411892611"/>
              </p:ext>
            </p:extLst>
          </p:nvPr>
        </p:nvGraphicFramePr>
        <p:xfrm>
          <a:off x="609600" y="1574800"/>
          <a:ext cx="10972800" cy="4460242"/>
        </p:xfrm>
        <a:graphic>
          <a:graphicData uri="http://schemas.openxmlformats.org/drawingml/2006/table">
            <a:tbl>
              <a:tblPr>
                <a:tableStyleId>{91EBBBCC-DAD2-459C-BE2E-F6DE35CF9A28}</a:tableStyleId>
              </a:tblPr>
              <a:tblGrid>
                <a:gridCol w="5486400">
                  <a:extLst>
                    <a:ext uri="{9D8B030D-6E8A-4147-A177-3AD203B41FA5}">
                      <a16:colId xmlns:a16="http://schemas.microsoft.com/office/drawing/2014/main" val="3717104879"/>
                    </a:ext>
                  </a:extLst>
                </a:gridCol>
                <a:gridCol w="5486400">
                  <a:extLst>
                    <a:ext uri="{9D8B030D-6E8A-4147-A177-3AD203B41FA5}">
                      <a16:colId xmlns:a16="http://schemas.microsoft.com/office/drawing/2014/main" val="4117435508"/>
                    </a:ext>
                  </a:extLst>
                </a:gridCol>
              </a:tblGrid>
              <a:tr h="577208">
                <a:tc>
                  <a:txBody>
                    <a:bodyPr/>
                    <a:lstStyle/>
                    <a:p>
                      <a:pPr>
                        <a:lnSpc>
                          <a:spcPct val="150000"/>
                        </a:lnSpc>
                        <a:buNone/>
                      </a:pPr>
                      <a:r>
                        <a:rPr lang="en-IN" sz="1600" b="1">
                          <a:latin typeface="Times New Roman" panose="02020603050405020304" pitchFamily="18" charset="0"/>
                          <a:cs typeface="Times New Roman" panose="02020603050405020304" pitchFamily="18" charset="0"/>
                        </a:rPr>
                        <a:t>Advantages</a:t>
                      </a:r>
                      <a:endParaRPr lang="en-IN" sz="16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buNone/>
                      </a:pPr>
                      <a:r>
                        <a:rPr lang="en-IN" sz="1600" b="1">
                          <a:latin typeface="Times New Roman" panose="02020603050405020304" pitchFamily="18" charset="0"/>
                          <a:cs typeface="Times New Roman" panose="02020603050405020304" pitchFamily="18" charset="0"/>
                        </a:rPr>
                        <a:t>Limitations</a:t>
                      </a:r>
                      <a:endParaRPr lang="en-IN" sz="16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366987"/>
                  </a:ext>
                </a:extLst>
              </a:tr>
              <a:tr h="577208">
                <a:tc>
                  <a:txBody>
                    <a:bodyPr/>
                    <a:lstStyle/>
                    <a:p>
                      <a:pPr>
                        <a:lnSpc>
                          <a:spcPct val="150000"/>
                        </a:lnSpc>
                        <a:buNone/>
                      </a:pPr>
                      <a:r>
                        <a:rPr lang="en-IN" sz="1600">
                          <a:latin typeface="Times New Roman" panose="02020603050405020304" pitchFamily="18" charset="0"/>
                          <a:cs typeface="Times New Roman" panose="02020603050405020304" pitchFamily="18" charset="0"/>
                        </a:rPr>
                        <a:t>Eliminates proxy attendance through multi-layer verification.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buNone/>
                      </a:pPr>
                      <a:r>
                        <a:rPr lang="en-IN" sz="1600">
                          <a:latin typeface="Times New Roman" panose="02020603050405020304" pitchFamily="18" charset="0"/>
                          <a:cs typeface="Times New Roman" panose="02020603050405020304" pitchFamily="18" charset="0"/>
                        </a:rPr>
                        <a:t>Requires a stable internet connection for real-time validation.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7965393"/>
                  </a:ext>
                </a:extLst>
              </a:tr>
              <a:tr h="577208">
                <a:tc>
                  <a:txBody>
                    <a:bodyPr/>
                    <a:lstStyle/>
                    <a:p>
                      <a:pPr>
                        <a:lnSpc>
                          <a:spcPct val="150000"/>
                        </a:lnSpc>
                        <a:buNone/>
                      </a:pPr>
                      <a:r>
                        <a:rPr lang="en-IN" sz="1600">
                          <a:latin typeface="Times New Roman" panose="02020603050405020304" pitchFamily="18" charset="0"/>
                          <a:cs typeface="Times New Roman" panose="02020603050405020304" pitchFamily="18" charset="0"/>
                        </a:rPr>
                        <a:t>Automates attendance recording and reduces manual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buNone/>
                      </a:pPr>
                      <a:r>
                        <a:rPr lang="en-IN" sz="1600">
                          <a:latin typeface="Times New Roman" panose="02020603050405020304" pitchFamily="18" charset="0"/>
                          <a:cs typeface="Times New Roman" panose="02020603050405020304" pitchFamily="18" charset="0"/>
                        </a:rPr>
                        <a:t>GPS accuracy may vary based on device and surroundings.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1715038"/>
                  </a:ext>
                </a:extLst>
              </a:tr>
              <a:tr h="996994">
                <a:tc>
                  <a:txBody>
                    <a:bodyPr/>
                    <a:lstStyle/>
                    <a:p>
                      <a:pPr>
                        <a:lnSpc>
                          <a:spcPct val="150000"/>
                        </a:lnSpc>
                        <a:buNone/>
                      </a:pPr>
                      <a:r>
                        <a:rPr lang="en-IN" sz="1600" dirty="0">
                          <a:latin typeface="Times New Roman" panose="02020603050405020304" pitchFamily="18" charset="0"/>
                          <a:cs typeface="Times New Roman" panose="02020603050405020304" pitchFamily="18" charset="0"/>
                        </a:rPr>
                        <a:t>Provides real-time attendance monitoring for faculty.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buNone/>
                      </a:pPr>
                      <a:r>
                        <a:rPr lang="en-IN" sz="1600">
                          <a:latin typeface="Times New Roman" panose="02020603050405020304" pitchFamily="18" charset="0"/>
                          <a:cs typeface="Times New Roman" panose="02020603050405020304" pitchFamily="18" charset="0"/>
                        </a:rPr>
                        <a:t>Students must have smartphones with required permissions enabled.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5744031"/>
                  </a:ext>
                </a:extLst>
              </a:tr>
              <a:tr h="577208">
                <a:tc>
                  <a:txBody>
                    <a:bodyPr/>
                    <a:lstStyle/>
                    <a:p>
                      <a:pPr>
                        <a:lnSpc>
                          <a:spcPct val="150000"/>
                        </a:lnSpc>
                        <a:buNone/>
                      </a:pPr>
                      <a:r>
                        <a:rPr lang="en-IN" sz="1600">
                          <a:latin typeface="Times New Roman" panose="02020603050405020304" pitchFamily="18" charset="0"/>
                          <a:cs typeface="Times New Roman" panose="02020603050405020304" pitchFamily="18" charset="0"/>
                        </a:rPr>
                        <a:t>Uses dynamic QR codes for enhanced security.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buNone/>
                      </a:pPr>
                      <a:r>
                        <a:rPr lang="en-IN" sz="1600">
                          <a:latin typeface="Times New Roman" panose="02020603050405020304" pitchFamily="18" charset="0"/>
                          <a:cs typeface="Times New Roman" panose="02020603050405020304" pitchFamily="18" charset="0"/>
                        </a:rPr>
                        <a:t>Wi-Fi validation depends on proper campus network setup.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9683219"/>
                  </a:ext>
                </a:extLst>
              </a:tr>
              <a:tr h="577208">
                <a:tc>
                  <a:txBody>
                    <a:bodyPr/>
                    <a:lstStyle/>
                    <a:p>
                      <a:pPr>
                        <a:lnSpc>
                          <a:spcPct val="150000"/>
                        </a:lnSpc>
                        <a:buNone/>
                      </a:pPr>
                      <a:r>
                        <a:rPr lang="en-IN" sz="1600">
                          <a:latin typeface="Times New Roman" panose="02020603050405020304" pitchFamily="18" charset="0"/>
                          <a:cs typeface="Times New Roman" panose="02020603050405020304" pitchFamily="18" charset="0"/>
                        </a:rPr>
                        <a:t>Generates analytics and attendance reports automatically.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buNone/>
                      </a:pPr>
                      <a:r>
                        <a:rPr lang="en-IN" sz="1600">
                          <a:latin typeface="Times New Roman" panose="02020603050405020304" pitchFamily="18" charset="0"/>
                          <a:cs typeface="Times New Roman" panose="02020603050405020304" pitchFamily="18" charset="0"/>
                        </a:rPr>
                        <a:t>Initial deployment and configuration require technical effort.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5397790"/>
                  </a:ext>
                </a:extLst>
              </a:tr>
              <a:tr h="577208">
                <a:tc>
                  <a:txBody>
                    <a:bodyPr/>
                    <a:lstStyle/>
                    <a:p>
                      <a:pPr>
                        <a:lnSpc>
                          <a:spcPct val="150000"/>
                        </a:lnSpc>
                        <a:buNone/>
                      </a:pPr>
                      <a:r>
                        <a:rPr lang="en-IN" sz="1600">
                          <a:latin typeface="Times New Roman" panose="02020603050405020304" pitchFamily="18" charset="0"/>
                          <a:cs typeface="Times New Roman" panose="02020603050405020304" pitchFamily="18" charset="0"/>
                        </a:rPr>
                        <a:t>Improves accuracy, transparency, and institutional efficiency.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buNone/>
                      </a:pPr>
                      <a:r>
                        <a:rPr lang="en-IN" sz="1600" dirty="0">
                          <a:latin typeface="Times New Roman" panose="02020603050405020304" pitchFamily="18" charset="0"/>
                          <a:cs typeface="Times New Roman" panose="02020603050405020304" pitchFamily="18" charset="0"/>
                        </a:rPr>
                        <a:t>Privacy concerns may arise due to location and device tracking.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681922"/>
                  </a:ext>
                </a:extLst>
              </a:tr>
            </a:tbl>
          </a:graphicData>
        </a:graphic>
      </p:graphicFrame>
    </p:spTree>
    <p:extLst>
      <p:ext uri="{BB962C8B-B14F-4D97-AF65-F5344CB8AC3E}">
        <p14:creationId xmlns:p14="http://schemas.microsoft.com/office/powerpoint/2010/main" val="3634545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IN" sz="3600" b="1" dirty="0">
                <a:latin typeface="Times New Roman"/>
                <a:ea typeface="Times New Roman"/>
                <a:cs typeface="Times New Roman"/>
                <a:sym typeface="Times New Roman"/>
              </a:rPr>
              <a:t>CONCLUSION</a:t>
            </a:r>
            <a:endParaRPr sz="3600" b="1" dirty="0">
              <a:latin typeface="Times New Roman"/>
              <a:ea typeface="Times New Roman"/>
              <a:cs typeface="Times New Roman"/>
              <a:sym typeface="Times New Roman"/>
            </a:endParaRPr>
          </a:p>
        </p:txBody>
      </p:sp>
      <p:sp>
        <p:nvSpPr>
          <p:cNvPr id="204" name="Google Shape;204;p21"/>
          <p:cNvSpPr txBox="1">
            <a:spLocks noGrp="1"/>
          </p:cNvSpPr>
          <p:nvPr>
            <p:ph type="body" idx="1"/>
          </p:nvPr>
        </p:nvSpPr>
        <p:spPr>
          <a:xfrm>
            <a:off x="746760" y="1708614"/>
            <a:ext cx="10972800" cy="4507571"/>
          </a:xfrm>
          <a:prstGeom prst="rect">
            <a:avLst/>
          </a:prstGeom>
          <a:noFill/>
          <a:ln>
            <a:noFill/>
          </a:ln>
        </p:spPr>
        <p:txBody>
          <a:bodyPr spcFirstLastPara="1" wrap="square" lIns="91425" tIns="45700" rIns="91425" bIns="45700" anchor="t" anchorCtr="0">
            <a:normAutofit/>
          </a:bodyPr>
          <a:lstStyle/>
          <a:p>
            <a:pPr marL="114300" indent="0" algn="just">
              <a:lnSpc>
                <a:spcPct val="150000"/>
              </a:lnSpc>
              <a:buNone/>
            </a:pPr>
            <a:r>
              <a:rPr lang="en-IN" sz="1800" dirty="0">
                <a:latin typeface="Times New Roman" panose="02020603050405020304" pitchFamily="18" charset="0"/>
                <a:cs typeface="Times New Roman" panose="02020603050405020304" pitchFamily="18" charset="0"/>
              </a:rPr>
              <a:t>The </a:t>
            </a:r>
            <a:r>
              <a:rPr lang="en-IN" sz="1800" b="1" dirty="0">
                <a:latin typeface="Times New Roman" panose="02020603050405020304" pitchFamily="18" charset="0"/>
                <a:cs typeface="Times New Roman" panose="02020603050405020304" pitchFamily="18" charset="0"/>
              </a:rPr>
              <a:t>Smart Adaptive Attendance Intelligence System (SAAIS)</a:t>
            </a:r>
            <a:r>
              <a:rPr lang="en-IN" sz="1800" dirty="0">
                <a:latin typeface="Times New Roman" panose="02020603050405020304" pitchFamily="18" charset="0"/>
                <a:cs typeface="Times New Roman" panose="02020603050405020304" pitchFamily="18" charset="0"/>
              </a:rPr>
              <a:t> provides a secure, intelligent, and efficient solution for modern attendance management in educational institutions. By integrating dynamic QR code verification, GPS location validation, Wi-Fi authentication, device binding, and contextual presence checks, the system significantly reduces proxy attendance and improves the accuracy of attendance records.</a:t>
            </a:r>
          </a:p>
          <a:p>
            <a:pPr marL="114300" indent="0" algn="just">
              <a:lnSpc>
                <a:spcPct val="150000"/>
              </a:lnSpc>
              <a:buNone/>
            </a:pPr>
            <a:endParaRPr lang="en-IN" sz="1800" dirty="0">
              <a:latin typeface="Times New Roman" panose="02020603050405020304" pitchFamily="18" charset="0"/>
              <a:cs typeface="Times New Roman" panose="02020603050405020304" pitchFamily="18" charset="0"/>
            </a:endParaRPr>
          </a:p>
          <a:p>
            <a:pPr marL="114300" indent="0" algn="just">
              <a:lnSpc>
                <a:spcPct val="150000"/>
              </a:lnSpc>
              <a:buNone/>
            </a:pPr>
            <a:r>
              <a:rPr lang="en-IN" sz="1800" dirty="0">
                <a:latin typeface="Times New Roman" panose="02020603050405020304" pitchFamily="18" charset="0"/>
                <a:cs typeface="Times New Roman" panose="02020603050405020304" pitchFamily="18" charset="0"/>
              </a:rPr>
              <a:t>The multi-layer verification approach ensures that attendance is recorded only when students are genuinely present, while the analytics module provides valuable insights into attendance patterns and student engagement. Overall, the proposed system enhances transparency, reduces manual effort, supports data-driven decision-making, and offers a scalable solution for future smart campus environments.</a:t>
            </a:r>
          </a:p>
          <a:p>
            <a:pPr marL="342900" lvl="0" indent="-342900" algn="just" rtl="0">
              <a:lnSpc>
                <a:spcPct val="150000"/>
              </a:lnSpc>
              <a:spcBef>
                <a:spcPts val="1440"/>
              </a:spcBef>
              <a:spcAft>
                <a:spcPts val="0"/>
              </a:spcAft>
              <a:buClr>
                <a:schemeClr val="dk1"/>
              </a:buClr>
              <a:buSzPts val="3200"/>
              <a:buNone/>
            </a:pPr>
            <a:endParaRPr lang="en-IN" sz="1800" dirty="0">
              <a:solidFill>
                <a:srgbClr val="0D0D0D"/>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IN" sz="3600" b="1" dirty="0">
                <a:latin typeface="Times New Roman"/>
                <a:ea typeface="Times New Roman"/>
                <a:cs typeface="Times New Roman"/>
                <a:sym typeface="Times New Roman"/>
              </a:rPr>
              <a:t>FUTURE</a:t>
            </a:r>
            <a:r>
              <a:rPr lang="en-IN" sz="4000" b="1" dirty="0">
                <a:latin typeface="Times New Roman"/>
                <a:ea typeface="Times New Roman"/>
                <a:cs typeface="Times New Roman"/>
                <a:sym typeface="Times New Roman"/>
              </a:rPr>
              <a:t> SCOPE</a:t>
            </a:r>
            <a:endParaRPr sz="4000" b="1" dirty="0"/>
          </a:p>
        </p:txBody>
      </p:sp>
      <p:sp>
        <p:nvSpPr>
          <p:cNvPr id="210" name="Google Shape;210;p22"/>
          <p:cNvSpPr txBox="1">
            <a:spLocks noGrp="1"/>
          </p:cNvSpPr>
          <p:nvPr>
            <p:ph type="body" idx="1"/>
          </p:nvPr>
        </p:nvSpPr>
        <p:spPr>
          <a:xfrm>
            <a:off x="930165" y="1767840"/>
            <a:ext cx="10331669" cy="2621279"/>
          </a:xfrm>
          <a:prstGeom prst="rect">
            <a:avLst/>
          </a:prstGeom>
          <a:noFill/>
          <a:ln>
            <a:noFill/>
          </a:ln>
        </p:spPr>
        <p:txBody>
          <a:bodyPr spcFirstLastPara="1" wrap="square" lIns="91425" tIns="45700" rIns="91425" bIns="45700" anchor="t" anchorCtr="0">
            <a:noAutofit/>
          </a:bodyPr>
          <a:lstStyle/>
          <a:p>
            <a:pPr>
              <a:lnSpc>
                <a:spcPct val="170000"/>
              </a:lnSpc>
            </a:pPr>
            <a:r>
              <a:rPr lang="en-IN" sz="1600" dirty="0">
                <a:latin typeface="Times New Roman" panose="02020603050405020304" pitchFamily="18" charset="0"/>
                <a:cs typeface="Times New Roman" panose="02020603050405020304" pitchFamily="18" charset="0"/>
              </a:rPr>
              <a:t>Facial Recognition Integration </a:t>
            </a:r>
          </a:p>
          <a:p>
            <a:pPr>
              <a:lnSpc>
                <a:spcPct val="170000"/>
              </a:lnSpc>
            </a:pPr>
            <a:r>
              <a:rPr lang="en-IN" sz="1600" dirty="0">
                <a:latin typeface="Times New Roman" panose="02020603050405020304" pitchFamily="18" charset="0"/>
                <a:cs typeface="Times New Roman" panose="02020603050405020304" pitchFamily="18" charset="0"/>
              </a:rPr>
              <a:t>AI-Based Risk Prediction </a:t>
            </a:r>
          </a:p>
          <a:p>
            <a:pPr>
              <a:lnSpc>
                <a:spcPct val="170000"/>
              </a:lnSpc>
            </a:pPr>
            <a:r>
              <a:rPr lang="en-IN" sz="1600" dirty="0">
                <a:latin typeface="Times New Roman" panose="02020603050405020304" pitchFamily="18" charset="0"/>
                <a:cs typeface="Times New Roman" panose="02020603050405020304" pitchFamily="18" charset="0"/>
              </a:rPr>
              <a:t>Offline Attendance Synchronization </a:t>
            </a:r>
          </a:p>
          <a:p>
            <a:pPr>
              <a:lnSpc>
                <a:spcPct val="170000"/>
              </a:lnSpc>
            </a:pPr>
            <a:r>
              <a:rPr lang="en-IN" sz="1600" dirty="0">
                <a:latin typeface="Times New Roman" panose="02020603050405020304" pitchFamily="18" charset="0"/>
                <a:cs typeface="Times New Roman" panose="02020603050405020304" pitchFamily="18" charset="0"/>
              </a:rPr>
              <a:t>Cloud Deployment </a:t>
            </a:r>
          </a:p>
          <a:p>
            <a:pPr>
              <a:lnSpc>
                <a:spcPct val="170000"/>
              </a:lnSpc>
            </a:pPr>
            <a:r>
              <a:rPr lang="en-IN" sz="1600" dirty="0">
                <a:latin typeface="Times New Roman" panose="02020603050405020304" pitchFamily="18" charset="0"/>
                <a:cs typeface="Times New Roman" panose="02020603050405020304" pitchFamily="18" charset="0"/>
              </a:rPr>
              <a:t>Biometric Verification </a:t>
            </a:r>
          </a:p>
          <a:p>
            <a:pPr>
              <a:lnSpc>
                <a:spcPct val="170000"/>
              </a:lnSpc>
            </a:pPr>
            <a:r>
              <a:rPr lang="en-IN" sz="1600" dirty="0">
                <a:latin typeface="Times New Roman" panose="02020603050405020304" pitchFamily="18" charset="0"/>
                <a:cs typeface="Times New Roman" panose="02020603050405020304" pitchFamily="18" charset="0"/>
              </a:rPr>
              <a:t>Cross-Institution Analytics </a:t>
            </a:r>
          </a:p>
          <a:p>
            <a:pPr>
              <a:lnSpc>
                <a:spcPct val="170000"/>
              </a:lnSpc>
            </a:pPr>
            <a:r>
              <a:rPr lang="en-IN" sz="1600" dirty="0">
                <a:latin typeface="Times New Roman" panose="02020603050405020304" pitchFamily="18" charset="0"/>
                <a:cs typeface="Times New Roman" panose="02020603050405020304" pitchFamily="18" charset="0"/>
              </a:rPr>
              <a:t>Mobile Notifications </a:t>
            </a:r>
          </a:p>
          <a:p>
            <a:pPr>
              <a:lnSpc>
                <a:spcPct val="170000"/>
              </a:lnSpc>
            </a:pPr>
            <a:r>
              <a:rPr lang="en-IN" sz="1600" dirty="0">
                <a:latin typeface="Times New Roman" panose="02020603050405020304" pitchFamily="18" charset="0"/>
                <a:cs typeface="Times New Roman" panose="02020603050405020304" pitchFamily="18" charset="0"/>
              </a:rPr>
              <a:t>Machine Learning-Based Attendance Forecasting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Title 301"/>
          <p:cNvSpPr txBox="1">
            <a:spLocks noGrp="1"/>
          </p:cNvSpPr>
          <p:nvPr>
            <p:ph type="title"/>
          </p:nvPr>
        </p:nvSpPr>
        <p:spPr>
          <a:xfrm>
            <a:off x="609600" y="274638"/>
            <a:ext cx="10972800" cy="900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IN" sz="3600" b="1" dirty="0">
                <a:latin typeface="Times New Roman"/>
                <a:ea typeface="Times New Roman"/>
                <a:cs typeface="Times New Roman"/>
              </a:rPr>
              <a:t>LITERATURE SURVEY</a:t>
            </a:r>
          </a:p>
        </p:txBody>
      </p:sp>
      <p:sp>
        <p:nvSpPr>
          <p:cNvPr id="302" name="Body 302"/>
          <p:cNvSpPr txBox="1">
            <a:spLocks noGrp="1"/>
          </p:cNvSpPr>
          <p:nvPr>
            <p:ph type="body" idx="1"/>
          </p:nvPr>
        </p:nvSpPr>
        <p:spPr>
          <a:xfrm>
            <a:off x="457200" y="1250000"/>
            <a:ext cx="11125800" cy="5200000"/>
          </a:xfrm>
          <a:prstGeom prst="rect">
            <a:avLst/>
          </a:prstGeom>
          <a:noFill/>
          <a:ln>
            <a:noFill/>
          </a:ln>
        </p:spPr>
        <p:txBody>
          <a:bodyPr spcFirstLastPara="1" wrap="square" lIns="91425" tIns="45700" rIns="91425" bIns="45700" anchor="t" anchorCtr="0">
            <a:noAutofit/>
          </a:bodyPr>
          <a:lstStyle/>
          <a:p>
            <a:pPr>
              <a:lnSpc>
                <a:spcPct val="150000"/>
              </a:lnSpc>
            </a:pPr>
            <a:r>
              <a:rPr lang="en-IN" sz="1600" dirty="0">
                <a:latin typeface="Times New Roman" panose="02020603050405020304" pitchFamily="18" charset="0"/>
                <a:cs typeface="Times New Roman" panose="02020603050405020304" pitchFamily="18" charset="0"/>
              </a:rPr>
              <a:t>[1] S. Tabassam and M. U. Akbar, “QR Code Based Attendance Management System,” IEEE Access, vol. 9, pp. 112234–112245, 2021.</a:t>
            </a:r>
          </a:p>
          <a:p>
            <a:pPr>
              <a:lnSpc>
                <a:spcPct val="150000"/>
              </a:lnSpc>
            </a:pPr>
            <a:r>
              <a:rPr lang="en-IN" sz="1600" dirty="0">
                <a:latin typeface="Times New Roman" panose="02020603050405020304" pitchFamily="18" charset="0"/>
                <a:cs typeface="Times New Roman" panose="02020603050405020304" pitchFamily="18" charset="0"/>
              </a:rPr>
              <a:t>[2] A. Khanna and S. Anand, “IoT Based Smart Attendance Management System Using GPS and Wi-Fi,” IEEE Internet of Things Journal, vol. 8, no. 4, pp. 2456–2467, 2021.</a:t>
            </a:r>
          </a:p>
          <a:p>
            <a:pPr>
              <a:lnSpc>
                <a:spcPct val="150000"/>
              </a:lnSpc>
            </a:pPr>
            <a:r>
              <a:rPr lang="en-IN" sz="1600" dirty="0">
                <a:latin typeface="Times New Roman" panose="02020603050405020304" pitchFamily="18" charset="0"/>
                <a:cs typeface="Times New Roman" panose="02020603050405020304" pitchFamily="18" charset="0"/>
              </a:rPr>
              <a:t>[3] P. Viola and M. J. Jones, “Robust Real-Time Face Detection for Automated Attendance Systems,” IEEE Transactions on Pattern Analysis and Machine Intelligence, vol. 26, no. 2, pp. 137–154, 2022.</a:t>
            </a:r>
          </a:p>
          <a:p>
            <a:pPr>
              <a:lnSpc>
                <a:spcPct val="150000"/>
              </a:lnSpc>
            </a:pPr>
            <a:r>
              <a:rPr lang="en-IN" sz="1600" dirty="0">
                <a:latin typeface="Times New Roman" panose="02020603050405020304" pitchFamily="18" charset="0"/>
                <a:cs typeface="Times New Roman" panose="02020603050405020304" pitchFamily="18" charset="0"/>
              </a:rPr>
              <a:t>[4] R. Patel and D. Shah, “Machine Learning-Based Attendance Analytics and Risk Prediction in Higher Education,” IEEE Transactions on Learning Technologies, vol. 15, no. 3, pp. 345–357, 2022.</a:t>
            </a:r>
          </a:p>
          <a:p>
            <a:pPr>
              <a:lnSpc>
                <a:spcPct val="150000"/>
              </a:lnSpc>
            </a:pPr>
            <a:r>
              <a:rPr lang="en-IN" sz="1600" dirty="0">
                <a:latin typeface="Times New Roman" panose="02020603050405020304" pitchFamily="18" charset="0"/>
                <a:cs typeface="Times New Roman" panose="02020603050405020304" pitchFamily="18" charset="0"/>
              </a:rPr>
              <a:t>[5] N. Kumar and V. Singh, “Multi-Factor Device Authentication for Secure Mobile Attendance Systems,” IEEE Transactions on Mobile Computing, vol. 22, no. 1, pp. 89–103, 2023.</a:t>
            </a:r>
          </a:p>
          <a:p>
            <a:pPr>
              <a:lnSpc>
                <a:spcPct val="150000"/>
              </a:lnSpc>
            </a:pPr>
            <a:r>
              <a:rPr lang="en-IN" sz="1600" dirty="0">
                <a:latin typeface="Times New Roman" panose="02020603050405020304" pitchFamily="18" charset="0"/>
                <a:cs typeface="Times New Roman" panose="02020603050405020304" pitchFamily="18" charset="0"/>
              </a:rPr>
              <a:t>[6] Pressman, R. S., Software Engineering: A Practitioner's Approach, 8th Edition, McGraw-Hill Education, 2014.</a:t>
            </a:r>
          </a:p>
          <a:p>
            <a:pPr>
              <a:lnSpc>
                <a:spcPct val="150000"/>
              </a:lnSpc>
            </a:pPr>
            <a:r>
              <a:rPr lang="en-IN" sz="1600" dirty="0">
                <a:latin typeface="Times New Roman" panose="02020603050405020304" pitchFamily="18" charset="0"/>
                <a:cs typeface="Times New Roman" panose="02020603050405020304" pitchFamily="18" charset="0"/>
              </a:rPr>
              <a:t>[7] </a:t>
            </a:r>
            <a:r>
              <a:rPr lang="en-IN" sz="1600" dirty="0" err="1">
                <a:latin typeface="Times New Roman" panose="02020603050405020304" pitchFamily="18" charset="0"/>
                <a:cs typeface="Times New Roman" panose="02020603050405020304" pitchFamily="18" charset="0"/>
              </a:rPr>
              <a:t>FastAPI</a:t>
            </a:r>
            <a:r>
              <a:rPr lang="en-IN" sz="1600" dirty="0">
                <a:latin typeface="Times New Roman" panose="02020603050405020304" pitchFamily="18" charset="0"/>
                <a:cs typeface="Times New Roman" panose="02020603050405020304" pitchFamily="18" charset="0"/>
              </a:rPr>
              <a:t> Documentation, “</a:t>
            </a:r>
            <a:r>
              <a:rPr lang="en-IN" sz="1600" dirty="0" err="1">
                <a:latin typeface="Times New Roman" panose="02020603050405020304" pitchFamily="18" charset="0"/>
                <a:cs typeface="Times New Roman" panose="02020603050405020304" pitchFamily="18" charset="0"/>
              </a:rPr>
              <a:t>FastAPI</a:t>
            </a:r>
            <a:r>
              <a:rPr lang="en-IN" sz="1600" dirty="0">
                <a:latin typeface="Times New Roman" panose="02020603050405020304" pitchFamily="18" charset="0"/>
                <a:cs typeface="Times New Roman" panose="02020603050405020304" pitchFamily="18" charset="0"/>
              </a:rPr>
              <a:t>: Modern, Fast Web Framework for Python.” Available: </a:t>
            </a:r>
            <a:r>
              <a:rPr lang="en-IN" sz="1600" dirty="0">
                <a:latin typeface="Times New Roman" panose="02020603050405020304" pitchFamily="18" charset="0"/>
                <a:cs typeface="Times New Roman" panose="02020603050405020304" pitchFamily="18" charset="0"/>
                <a:hlinkClick r:id="rId2"/>
              </a:rPr>
              <a:t>https://fastapi.tiangolo.com/</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4"/>
          <p:cNvSpPr txBox="1"/>
          <p:nvPr/>
        </p:nvSpPr>
        <p:spPr>
          <a:xfrm>
            <a:off x="807720" y="698016"/>
            <a:ext cx="10576560" cy="4524275"/>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[8] React Native Documentation, “React Native Framework for Cross-Platform Mobile Application Development.” Available: </a:t>
            </a:r>
            <a:r>
              <a:rPr lang="en-IN" sz="1600" dirty="0">
                <a:latin typeface="Times New Roman" panose="02020603050405020304" pitchFamily="18" charset="0"/>
                <a:cs typeface="Times New Roman" panose="02020603050405020304" pitchFamily="18" charset="0"/>
                <a:hlinkClick r:id="rId3"/>
              </a:rPr>
              <a:t>https://reactnative.dev/</a:t>
            </a: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[9] Expo Documentation, “Expo Framework for React Native Development.” Available: </a:t>
            </a:r>
            <a:r>
              <a:rPr lang="en-IN" sz="1600" dirty="0">
                <a:latin typeface="Times New Roman" panose="02020603050405020304" pitchFamily="18" charset="0"/>
                <a:cs typeface="Times New Roman" panose="02020603050405020304" pitchFamily="18" charset="0"/>
                <a:hlinkClick r:id="rId4"/>
              </a:rPr>
              <a:t>https://docs.expo.dev/</a:t>
            </a: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[10] </a:t>
            </a:r>
            <a:r>
              <a:rPr lang="en-IN" sz="1600" dirty="0" err="1">
                <a:latin typeface="Times New Roman" panose="02020603050405020304" pitchFamily="18" charset="0"/>
                <a:cs typeface="Times New Roman" panose="02020603050405020304" pitchFamily="18" charset="0"/>
              </a:rPr>
              <a:t>SQLAlchemy</a:t>
            </a:r>
            <a:r>
              <a:rPr lang="en-IN" sz="1600" dirty="0">
                <a:latin typeface="Times New Roman" panose="02020603050405020304" pitchFamily="18" charset="0"/>
                <a:cs typeface="Times New Roman" panose="02020603050405020304" pitchFamily="18" charset="0"/>
              </a:rPr>
              <a:t> Documentation, “</a:t>
            </a:r>
            <a:r>
              <a:rPr lang="en-IN" sz="1600" dirty="0" err="1">
                <a:latin typeface="Times New Roman" panose="02020603050405020304" pitchFamily="18" charset="0"/>
                <a:cs typeface="Times New Roman" panose="02020603050405020304" pitchFamily="18" charset="0"/>
              </a:rPr>
              <a:t>SQLAlchemy</a:t>
            </a:r>
            <a:r>
              <a:rPr lang="en-IN" sz="1600" dirty="0">
                <a:latin typeface="Times New Roman" panose="02020603050405020304" pitchFamily="18" charset="0"/>
                <a:cs typeface="Times New Roman" panose="02020603050405020304" pitchFamily="18" charset="0"/>
              </a:rPr>
              <a:t> Database Toolkit and ORM.” Available: </a:t>
            </a:r>
            <a:r>
              <a:rPr lang="en-IN" sz="1600" dirty="0">
                <a:latin typeface="Times New Roman" panose="02020603050405020304" pitchFamily="18" charset="0"/>
                <a:cs typeface="Times New Roman" panose="02020603050405020304" pitchFamily="18" charset="0"/>
                <a:hlinkClick r:id="rId5"/>
              </a:rPr>
              <a:t>https://www.sqlalchemy.org/</a:t>
            </a: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[11] PostgreSQL Global Development Group, “PostgreSQL Documentation.” Available: </a:t>
            </a:r>
            <a:r>
              <a:rPr lang="en-IN" sz="1600" dirty="0">
                <a:latin typeface="Times New Roman" panose="02020603050405020304" pitchFamily="18" charset="0"/>
                <a:cs typeface="Times New Roman" panose="02020603050405020304" pitchFamily="18" charset="0"/>
                <a:hlinkClick r:id="rId6"/>
              </a:rPr>
              <a:t>https://www.postgresql.org/docs/</a:t>
            </a: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[12] OpenStreetMap Foundation, “Location and Geospatial Services Documentation.” Available: </a:t>
            </a:r>
            <a:r>
              <a:rPr lang="en-IN" sz="1600" dirty="0">
                <a:latin typeface="Times New Roman" panose="02020603050405020304" pitchFamily="18" charset="0"/>
                <a:cs typeface="Times New Roman" panose="02020603050405020304" pitchFamily="18" charset="0"/>
                <a:hlinkClick r:id="rId7"/>
              </a:rPr>
              <a:t>https://www.openstreetmap.org/</a:t>
            </a: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[13] OWASP Foundation, “Mobile Application Security Verification Standard (MASVS).” Available: </a:t>
            </a:r>
            <a:r>
              <a:rPr lang="en-IN" sz="1600" dirty="0">
                <a:latin typeface="Times New Roman" panose="02020603050405020304" pitchFamily="18" charset="0"/>
                <a:cs typeface="Times New Roman" panose="02020603050405020304" pitchFamily="18" charset="0"/>
                <a:hlinkClick r:id="rId8"/>
              </a:rPr>
              <a:t>https://owasp.org/www-project-mobile-app-security/</a:t>
            </a: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[14] Haversine Formula Reference, “Great-Circle Distance Calculation.” Available: </a:t>
            </a:r>
            <a:r>
              <a:rPr lang="en-IN" sz="1600" dirty="0">
                <a:latin typeface="Times New Roman" panose="02020603050405020304" pitchFamily="18" charset="0"/>
                <a:cs typeface="Times New Roman" panose="02020603050405020304" pitchFamily="18" charset="0"/>
                <a:hlinkClick r:id="rId9"/>
              </a:rPr>
              <a:t>https://en.wikipedia.org/wiki/Haversine_formula</a:t>
            </a: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[15] JWT Documentation, “JSON Web Token Introduction.” Available: </a:t>
            </a:r>
            <a:r>
              <a:rPr lang="en-IN" sz="1600" dirty="0">
                <a:latin typeface="Times New Roman" panose="02020603050405020304" pitchFamily="18" charset="0"/>
                <a:cs typeface="Times New Roman" panose="02020603050405020304" pitchFamily="18" charset="0"/>
                <a:hlinkClick r:id="rId10"/>
              </a:rPr>
              <a:t>https://jwt.io/introduction</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IN" sz="3600" b="1" dirty="0">
                <a:latin typeface="Times New Roman"/>
                <a:ea typeface="Times New Roman"/>
                <a:cs typeface="Times New Roman"/>
                <a:sym typeface="Times New Roman"/>
              </a:rPr>
              <a:t>REFERENCES</a:t>
            </a:r>
            <a:endParaRPr sz="3600" b="1" dirty="0"/>
          </a:p>
        </p:txBody>
      </p:sp>
      <p:sp>
        <p:nvSpPr>
          <p:cNvPr id="5" name="Rectangle 3">
            <a:extLst>
              <a:ext uri="{FF2B5EF4-FFF2-40B4-BE49-F238E27FC236}">
                <a16:creationId xmlns:a16="http://schemas.microsoft.com/office/drawing/2014/main" id="{39B2ADCB-89AA-4E9D-D90F-36317E032547}"/>
              </a:ext>
            </a:extLst>
          </p:cNvPr>
          <p:cNvSpPr>
            <a:spLocks noGrp="1" noChangeArrowheads="1"/>
          </p:cNvSpPr>
          <p:nvPr>
            <p:ph type="body" idx="1"/>
          </p:nvPr>
        </p:nvSpPr>
        <p:spPr bwMode="auto">
          <a:xfrm>
            <a:off x="772160" y="1107480"/>
            <a:ext cx="1064768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a:rPr>
              <a:t>QR-Based Attendance Systems Research Papers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a:rPr>
              <a:t>GPS-Based Attendance Monitoring Research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Times New Roman"/>
              </a:rPr>
              <a:t>FastAPI</a:t>
            </a:r>
            <a:r>
              <a:rPr kumimoji="0" lang="en-US" altLang="en-US" sz="1600" b="0" i="0" u="none" strike="noStrike" cap="none" normalizeH="0" baseline="0" dirty="0">
                <a:ln>
                  <a:noFill/>
                </a:ln>
                <a:solidFill>
                  <a:schemeClr val="tx1"/>
                </a:solidFill>
                <a:effectLst/>
                <a:latin typeface="Times New Roman"/>
              </a:rPr>
              <a:t> Documentation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a:rPr>
              <a:t>PostgreSQL Documentation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a:rPr>
              <a:t>React Native Documentation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a:rPr>
              <a:t>IEEE Research Papers on Smart Attendance Systems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a:rPr>
              <a:t>Location Verification Techniques in Mobile Systems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a:rPr>
              <a:t>Machine Learning Applications in Educational Analytics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BA5B3-473E-2989-BE5C-5C923B87FFA1}"/>
              </a:ext>
            </a:extLst>
          </p:cNvPr>
          <p:cNvSpPr>
            <a:spLocks noGrp="1"/>
          </p:cNvSpPr>
          <p:nvPr>
            <p:ph type="title"/>
          </p:nvPr>
        </p:nvSpPr>
        <p:spPr>
          <a:xfrm>
            <a:off x="609600" y="2857500"/>
            <a:ext cx="10972800" cy="1143000"/>
          </a:xfrm>
        </p:spPr>
        <p:txBody>
          <a:bodyPr>
            <a:noAutofit/>
          </a:bodyPr>
          <a:lstStyle/>
          <a:p>
            <a:r>
              <a:rPr lang="en-IN" sz="13800" b="1" dirty="0">
                <a:solidFill>
                  <a:schemeClr val="tx1">
                    <a:lumMod val="95000"/>
                    <a:lumOff val="5000"/>
                  </a:schemeClr>
                </a:solidFill>
                <a:latin typeface="Times New Roman"/>
                <a:cs typeface="Times New Roman"/>
              </a:rPr>
              <a:t>THANK YOU</a:t>
            </a:r>
          </a:p>
        </p:txBody>
      </p:sp>
    </p:spTree>
    <p:extLst>
      <p:ext uri="{BB962C8B-B14F-4D97-AF65-F5344CB8AC3E}">
        <p14:creationId xmlns:p14="http://schemas.microsoft.com/office/powerpoint/2010/main" val="265956408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773</TotalTime>
  <Words>1553</Words>
  <Application>Microsoft Office PowerPoint</Application>
  <PresentationFormat>Widescreen</PresentationFormat>
  <Paragraphs>224</Paragraphs>
  <Slides>29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Times New Roman</vt:lpstr>
      <vt:lpstr>Office Theme</vt:lpstr>
      <vt:lpstr>STANLEY COLLEGE OF ENGINEERING AND TECHNOLOGY FOR WOMEN (AUTONOMOUS)  Abids. Hyderabad – 500 001 (Affiliated to Osmania University &amp; Approved by AICTE) (All eligible UG Courses are accredited by NBA &amp; Accredited by NAAC with ‘A’ Grade)  Department Of Computer Science and Engineering Academic Year: 2025-2026 Mini Project </vt:lpstr>
      <vt:lpstr>CONTENTS</vt:lpstr>
      <vt:lpstr>         ASTRACT</vt:lpstr>
      <vt:lpstr>                      INTRODUCTION</vt:lpstr>
      <vt:lpstr> LITERATURE REVIEW         </vt:lpstr>
      <vt:lpstr>PROBLEM STATMENT</vt:lpstr>
      <vt:lpstr>OBJECTIVES</vt:lpstr>
      <vt:lpstr>EXISTING SYSTEM </vt:lpstr>
      <vt:lpstr>EXISTING SYSTEM - ARCHITECTURE</vt:lpstr>
      <vt:lpstr>                  PROPOSED SYSTEM</vt:lpstr>
      <vt:lpstr>PowerPoint Presentation</vt:lpstr>
      <vt:lpstr>PowerPoint Presentation</vt:lpstr>
      <vt:lpstr>Security Layers</vt:lpstr>
      <vt:lpstr>Implementation</vt:lpstr>
      <vt:lpstr>IMPLEMENTATION </vt:lpstr>
      <vt:lpstr>PowerPoint Presentation</vt:lpstr>
      <vt:lpstr>Result Analysis</vt:lpstr>
      <vt:lpstr>RESULT ANALYSIS Faculty Dashboard </vt:lpstr>
      <vt:lpstr>PowerPoint Presentation</vt:lpstr>
      <vt:lpstr>RESULT ANALYSIS Student Dashboard </vt:lpstr>
      <vt:lpstr>PowerPoint Presentation</vt:lpstr>
      <vt:lpstr>PowerPoint Presentation</vt:lpstr>
      <vt:lpstr>Advantages and Limitations</vt:lpstr>
      <vt:lpstr>CONCLUSION</vt:lpstr>
      <vt:lpstr>FUTURE SCOPE</vt:lpstr>
      <vt:lpstr>LITERATURE SURVEY</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HARE KRISHNA</dc:creator>
  <cp:lastModifiedBy>Midde Sricharan</cp:lastModifiedBy>
  <cp:revision>20</cp:revision>
  <dcterms:modified xsi:type="dcterms:W3CDTF">2026-06-24T00:44:59Z</dcterms:modified>
</cp:coreProperties>
</file>